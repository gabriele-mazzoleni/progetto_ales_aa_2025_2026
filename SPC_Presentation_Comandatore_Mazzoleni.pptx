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336" r:id="rId3"/>
    <p:sldId id="351" r:id="rId4"/>
    <p:sldId id="352" r:id="rId5"/>
    <p:sldId id="353" r:id="rId6"/>
    <p:sldId id="337" r:id="rId7"/>
    <p:sldId id="367" r:id="rId8"/>
    <p:sldId id="341" r:id="rId9"/>
    <p:sldId id="368" r:id="rId10"/>
    <p:sldId id="343" r:id="rId11"/>
    <p:sldId id="344" r:id="rId12"/>
    <p:sldId id="345" r:id="rId13"/>
    <p:sldId id="350" r:id="rId14"/>
    <p:sldId id="349" r:id="rId15"/>
    <p:sldId id="346" r:id="rId16"/>
    <p:sldId id="339" r:id="rId17"/>
    <p:sldId id="354" r:id="rId18"/>
    <p:sldId id="355" r:id="rId19"/>
    <p:sldId id="356" r:id="rId20"/>
    <p:sldId id="357" r:id="rId21"/>
    <p:sldId id="358" r:id="rId22"/>
    <p:sldId id="361" r:id="rId23"/>
    <p:sldId id="359" r:id="rId24"/>
    <p:sldId id="363" r:id="rId25"/>
    <p:sldId id="360" r:id="rId26"/>
    <p:sldId id="364" r:id="rId27"/>
    <p:sldId id="366" r:id="rId28"/>
    <p:sldId id="362" r:id="rId29"/>
    <p:sldId id="365" r:id="rId30"/>
    <p:sldId id="340" r:id="rId31"/>
    <p:sldId id="369" r:id="rId32"/>
    <p:sldId id="370" r:id="rId3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84" autoAdjust="0"/>
    <p:restoredTop sz="94660"/>
  </p:normalViewPr>
  <p:slideViewPr>
    <p:cSldViewPr>
      <p:cViewPr varScale="1">
        <p:scale>
          <a:sx n="90" d="100"/>
          <a:sy n="90" d="100"/>
        </p:scale>
        <p:origin x="466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F3C78-BFF9-4137-8833-13E3D0B09D8B}" type="datetimeFigureOut">
              <a:rPr lang="it-IT" smtClean="0"/>
              <a:t>08/01/2026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8F9A5-25D9-4BE4-92E4-0A5AF102D31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6927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8F9A5-25D9-4BE4-92E4-0A5AF102D313}" type="slidenum">
              <a:rPr lang="it-IT" smtClean="0"/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52383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8E37A-E5AE-3B54-30F2-2CD2A87C0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C917A1C-85FF-0465-0699-015D7F560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983BAA2-E359-E754-7AC0-F926400E7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C5438E-F049-C5EF-C495-53D6E6584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8F9A5-25D9-4BE4-92E4-0A5AF102D313}" type="slidenum">
              <a:rPr lang="it-IT" smtClean="0"/>
              <a:t>13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23287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8F9A5-25D9-4BE4-92E4-0A5AF102D313}" type="slidenum">
              <a:rPr lang="it-IT" smtClean="0"/>
              <a:t>14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807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2000" y="3"/>
            <a:ext cx="2564130" cy="127000"/>
          </a:xfrm>
          <a:custGeom>
            <a:avLst/>
            <a:gdLst/>
            <a:ahLst/>
            <a:cxnLst/>
            <a:rect l="l" t="t" r="r" b="b"/>
            <a:pathLst>
              <a:path w="2564129" h="127000">
                <a:moveTo>
                  <a:pt x="2563990" y="0"/>
                </a:moveTo>
                <a:lnTo>
                  <a:pt x="0" y="0"/>
                </a:lnTo>
                <a:lnTo>
                  <a:pt x="0" y="126996"/>
                </a:lnTo>
                <a:lnTo>
                  <a:pt x="2563990" y="126996"/>
                </a:lnTo>
                <a:lnTo>
                  <a:pt x="2563990" y="0"/>
                </a:lnTo>
                <a:close/>
              </a:path>
            </a:pathLst>
          </a:custGeom>
          <a:solidFill>
            <a:srgbClr val="CA674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096000"/>
            <a:ext cx="12191998" cy="761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1547" y="65532"/>
            <a:ext cx="7619763" cy="10175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4024" y="2064003"/>
            <a:ext cx="9448165" cy="2605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8" cy="68516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605154" y="3021076"/>
            <a:ext cx="3434445" cy="6873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1200" spc="-10" noProof="0" dirty="0">
                <a:solidFill>
                  <a:srgbClr val="426EB0"/>
                </a:solidFill>
                <a:latin typeface="Franklin Gothic Medium"/>
                <a:cs typeface="Franklin Gothic Medium"/>
              </a:rPr>
              <a:t>Students</a:t>
            </a:r>
            <a:endParaRPr lang="en-GB" sz="1200" noProof="0" dirty="0">
              <a:latin typeface="Franklin Gothic Medium"/>
              <a:cs typeface="Franklin Gothic Medium"/>
            </a:endParaRPr>
          </a:p>
          <a:p>
            <a:pPr marL="12700"/>
            <a:r>
              <a:rPr lang="en-GB" sz="1600" noProof="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Mazzoleni Gabriele - 1079514</a:t>
            </a:r>
            <a:endParaRPr lang="en-GB" sz="1600" noProof="0" dirty="0">
              <a:latin typeface="Franklin Gothic Medium"/>
              <a:cs typeface="Franklin Gothic Medium"/>
            </a:endParaRPr>
          </a:p>
          <a:p>
            <a:pPr marL="12700"/>
            <a:r>
              <a:rPr lang="en-GB" sz="1600" noProof="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Comandatore Gaetano- 1090952</a:t>
            </a:r>
            <a:endParaRPr lang="en-GB" sz="1600" noProof="0" dirty="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07347" y="2743200"/>
            <a:ext cx="2289253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GB" sz="1200" noProof="0" dirty="0">
                <a:solidFill>
                  <a:srgbClr val="C96643"/>
                </a:solidFill>
                <a:latin typeface="Franklin Gothic Medium"/>
                <a:cs typeface="Franklin Gothic Medium"/>
              </a:rPr>
              <a:t>Computer science engineering</a:t>
            </a:r>
            <a:endParaRPr lang="en-GB" sz="1200" noProof="0" dirty="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53566" y="2560827"/>
            <a:ext cx="6456190" cy="24134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200" b="0" noProof="0" dirty="0">
                <a:solidFill>
                  <a:srgbClr val="FFFFFF"/>
                </a:solidFill>
                <a:latin typeface="Arial Black"/>
              </a:rPr>
              <a:t>SPC: Subspace Predictive Control</a:t>
            </a:r>
            <a:br>
              <a:rPr lang="en-GB" sz="3200" b="0" noProof="0" dirty="0">
                <a:solidFill>
                  <a:srgbClr val="FFFFFF"/>
                </a:solidFill>
                <a:latin typeface="Arial Black"/>
              </a:rPr>
            </a:br>
            <a:br>
              <a:rPr lang="en-GB" sz="3200" b="0" noProof="0" dirty="0">
                <a:solidFill>
                  <a:srgbClr val="FFFFFF"/>
                </a:solidFill>
                <a:latin typeface="Arial Black"/>
              </a:rPr>
            </a:br>
            <a:r>
              <a:rPr lang="en-GB" sz="2000" b="0" noProof="0" dirty="0">
                <a:solidFill>
                  <a:srgbClr val="FFFFFF"/>
                </a:solidFill>
                <a:latin typeface="Arial Black"/>
              </a:rPr>
              <a:t>Presentation for the course Adaptive Learning, Estimation and Supervision of dynamical systems (ALES)</a:t>
            </a:r>
            <a:endParaRPr lang="en-GB" sz="3200" b="0" noProof="0" dirty="0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3566" y="5410200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400" noProof="0" dirty="0">
                <a:solidFill>
                  <a:srgbClr val="FFFFFF"/>
                </a:solidFill>
                <a:latin typeface="Arial Black"/>
                <a:cs typeface="Arial Black"/>
              </a:rPr>
              <a:t>A.Y. 2025/2026</a:t>
            </a:r>
            <a:endParaRPr lang="en-GB" sz="2400" noProof="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BF1D-1F5E-BF87-3774-E0C37D0E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649BF47E-C162-179C-D3F1-281638D0D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Selected paper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610EBCA-39BF-8FE7-E254-D5B99F97EE2E}"/>
              </a:ext>
            </a:extLst>
          </p:cNvPr>
          <p:cNvSpPr txBox="1"/>
          <p:nvPr/>
        </p:nvSpPr>
        <p:spPr>
          <a:xfrm>
            <a:off x="762000" y="1676400"/>
            <a:ext cx="9677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following presentation as an analysis and implementation of the contents of </a:t>
            </a:r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“SPC: Subspace Prediction Control”,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by Wouter </a:t>
            </a:r>
            <a:r>
              <a:rPr lang="en-GB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Favoreel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, Bart De Moor and Michel Gevers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This paper aims to </a:t>
            </a:r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“combine Subspace Identification and Model Predictive Control methods in a very elegant way to form a numerically robust and easily implementable control/identification algorithm”. 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105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B4237-90FC-959B-4E4B-A55BCCC7D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tangolo 28">
            <a:extLst>
              <a:ext uri="{FF2B5EF4-FFF2-40B4-BE49-F238E27FC236}">
                <a16:creationId xmlns:a16="http://schemas.microsoft.com/office/drawing/2014/main" id="{0EB02C55-AC48-5461-EF98-DFC95274D183}"/>
              </a:ext>
            </a:extLst>
          </p:cNvPr>
          <p:cNvSpPr/>
          <p:nvPr/>
        </p:nvSpPr>
        <p:spPr>
          <a:xfrm>
            <a:off x="23748" y="826533"/>
            <a:ext cx="7901049" cy="5180629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2800" b="1" noProof="0" dirty="0">
                <a:solidFill>
                  <a:schemeClr val="tx1"/>
                </a:solidFill>
                <a:latin typeface="Arial Black" panose="020B0A04020102020204" pitchFamily="34" charset="0"/>
              </a:rPr>
              <a:t>SUBSPACE STATE IDENTIFICATION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923B50BC-2E54-C37B-70FE-67EDAF4E7B13}"/>
              </a:ext>
            </a:extLst>
          </p:cNvPr>
          <p:cNvSpPr/>
          <p:nvPr/>
        </p:nvSpPr>
        <p:spPr>
          <a:xfrm>
            <a:off x="9144002" y="85477"/>
            <a:ext cx="2899571" cy="5632621"/>
          </a:xfrm>
          <a:prstGeom prst="rect">
            <a:avLst/>
          </a:prstGeom>
          <a:solidFill>
            <a:srgbClr val="33CCFF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2800" b="1" noProof="0" dirty="0">
                <a:solidFill>
                  <a:schemeClr val="tx1"/>
                </a:solidFill>
                <a:latin typeface="Arial Black" panose="020B0A04020102020204" pitchFamily="34" charset="0"/>
              </a:rPr>
              <a:t>MPC</a:t>
            </a:r>
          </a:p>
        </p:txBody>
      </p:sp>
      <p:sp>
        <p:nvSpPr>
          <p:cNvPr id="10" name="Titolo 9">
            <a:extLst>
              <a:ext uri="{FF2B5EF4-FFF2-40B4-BE49-F238E27FC236}">
                <a16:creationId xmlns:a16="http://schemas.microsoft.com/office/drawing/2014/main" id="{9F3D3F09-A488-FAAB-A92E-87727F48B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15357"/>
            <a:ext cx="4190997" cy="495300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The References </a:t>
            </a: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30C82118-00A3-781B-A170-7895C80F3F95}"/>
              </a:ext>
            </a:extLst>
          </p:cNvPr>
          <p:cNvCxnSpPr>
            <a:cxnSpLocks/>
          </p:cNvCxnSpPr>
          <p:nvPr/>
        </p:nvCxnSpPr>
        <p:spPr>
          <a:xfrm>
            <a:off x="8674208" y="990600"/>
            <a:ext cx="0" cy="4724400"/>
          </a:xfrm>
          <a:prstGeom prst="line">
            <a:avLst/>
          </a:prstGeom>
          <a:ln w="1905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umetto: rettangolo 6">
            <a:extLst>
              <a:ext uri="{FF2B5EF4-FFF2-40B4-BE49-F238E27FC236}">
                <a16:creationId xmlns:a16="http://schemas.microsoft.com/office/drawing/2014/main" id="{0A35E63F-B149-6568-0798-432DCCE9CC2D}"/>
              </a:ext>
            </a:extLst>
          </p:cNvPr>
          <p:cNvSpPr/>
          <p:nvPr/>
        </p:nvSpPr>
        <p:spPr>
          <a:xfrm>
            <a:off x="148427" y="1353266"/>
            <a:ext cx="7467599" cy="538609"/>
          </a:xfrm>
          <a:prstGeom prst="wedgeRectCallout">
            <a:avLst>
              <a:gd name="adj1" fmla="val 58863"/>
              <a:gd name="adj2" fmla="val 4321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Cutler, C.R. and B.L. Ramaker. </a:t>
            </a:r>
          </a:p>
          <a:p>
            <a:r>
              <a:rPr lang="en-GB" sz="1800" noProof="0" dirty="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Dynamic matrix control - a computer control algorithm.</a:t>
            </a:r>
          </a:p>
        </p:txBody>
      </p:sp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4FCD946C-6CD6-1DE5-255E-A43FAE28C7FC}"/>
              </a:ext>
            </a:extLst>
          </p:cNvPr>
          <p:cNvSpPr/>
          <p:nvPr/>
        </p:nvSpPr>
        <p:spPr>
          <a:xfrm>
            <a:off x="148427" y="4672122"/>
            <a:ext cx="7467597" cy="538609"/>
          </a:xfrm>
          <a:prstGeom prst="wedgeRectCallout">
            <a:avLst>
              <a:gd name="adj1" fmla="val 58756"/>
              <a:gd name="adj2" fmla="val 3731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Moor, B., P. Van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Overschee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W.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Favoreel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GB" sz="1800" i="1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Numerical algorithms for subspace state space system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800" i="1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identification 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</a:t>
            </a:r>
            <a:r>
              <a:rPr lang="en-GB" sz="1800" i="1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overview.</a:t>
            </a:r>
            <a:endParaRPr lang="en-GB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umetto: rettangolo 8">
            <a:extLst>
              <a:ext uri="{FF2B5EF4-FFF2-40B4-BE49-F238E27FC236}">
                <a16:creationId xmlns:a16="http://schemas.microsoft.com/office/drawing/2014/main" id="{A16D2549-C407-C286-9D4A-D13C3E190541}"/>
              </a:ext>
            </a:extLst>
          </p:cNvPr>
          <p:cNvSpPr/>
          <p:nvPr/>
        </p:nvSpPr>
        <p:spPr>
          <a:xfrm>
            <a:off x="148427" y="5334000"/>
            <a:ext cx="7467593" cy="538609"/>
          </a:xfrm>
          <a:prstGeom prst="wedgeRectCallout">
            <a:avLst>
              <a:gd name="adj1" fmla="val 59289"/>
              <a:gd name="adj2" fmla="val -3790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Favoreel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W., B. De Moor and P. Van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Overschee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 </a:t>
            </a:r>
          </a:p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Subspace state system identification for industrial processes.</a:t>
            </a:r>
          </a:p>
        </p:txBody>
      </p:sp>
      <p:sp>
        <p:nvSpPr>
          <p:cNvPr id="11" name="Fumetto: rettangolo 10">
            <a:extLst>
              <a:ext uri="{FF2B5EF4-FFF2-40B4-BE49-F238E27FC236}">
                <a16:creationId xmlns:a16="http://schemas.microsoft.com/office/drawing/2014/main" id="{20BE262C-2E80-2CE4-27C5-24E8849F655A}"/>
              </a:ext>
            </a:extLst>
          </p:cNvPr>
          <p:cNvSpPr/>
          <p:nvPr/>
        </p:nvSpPr>
        <p:spPr>
          <a:xfrm>
            <a:off x="9364547" y="3364680"/>
            <a:ext cx="2554347" cy="1518791"/>
          </a:xfrm>
          <a:prstGeom prst="wedgeRectCallout">
            <a:avLst>
              <a:gd name="adj1" fmla="val -61979"/>
              <a:gd name="adj2" fmla="val -87367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Garcia, C.E., D.M. Prett and M. Morari. </a:t>
            </a:r>
          </a:p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 predictive control: Theory and practice - a survey.</a:t>
            </a:r>
          </a:p>
        </p:txBody>
      </p:sp>
      <p:sp>
        <p:nvSpPr>
          <p:cNvPr id="12" name="Fumetto: rettangolo 11">
            <a:extLst>
              <a:ext uri="{FF2B5EF4-FFF2-40B4-BE49-F238E27FC236}">
                <a16:creationId xmlns:a16="http://schemas.microsoft.com/office/drawing/2014/main" id="{D6075689-7CCF-E3BD-153A-F8206D37651E}"/>
              </a:ext>
            </a:extLst>
          </p:cNvPr>
          <p:cNvSpPr/>
          <p:nvPr/>
        </p:nvSpPr>
        <p:spPr>
          <a:xfrm>
            <a:off x="9364549" y="762000"/>
            <a:ext cx="2554345" cy="1905000"/>
          </a:xfrm>
          <a:prstGeom prst="wedgeRectCallout">
            <a:avLst>
              <a:gd name="adj1" fmla="val -62601"/>
              <a:gd name="adj2" fmla="val -14058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Richalet</a:t>
            </a:r>
            <a:r>
              <a:rPr lang="en-GB" noProof="0" dirty="0">
                <a:solidFill>
                  <a:schemeClr val="tx1"/>
                </a:solidFill>
              </a:rPr>
              <a:t>,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J., A.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R,ault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J.L·.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Testud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J. Papon. </a:t>
            </a:r>
            <a:r>
              <a:rPr lang="en-GB" noProof="0" dirty="0">
                <a:solidFill>
                  <a:schemeClr val="tx1"/>
                </a:solidFill>
              </a:rPr>
              <a:t>M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odel predictive heuristic control: Applications to industrial processes.</a:t>
            </a:r>
          </a:p>
        </p:txBody>
      </p:sp>
      <p:sp>
        <p:nvSpPr>
          <p:cNvPr id="13" name="Fumetto: rettangolo 12">
            <a:extLst>
              <a:ext uri="{FF2B5EF4-FFF2-40B4-BE49-F238E27FC236}">
                <a16:creationId xmlns:a16="http://schemas.microsoft.com/office/drawing/2014/main" id="{65F65FB3-78B1-807B-83F8-318DF3F2C7EA}"/>
              </a:ext>
            </a:extLst>
          </p:cNvPr>
          <p:cNvSpPr/>
          <p:nvPr/>
        </p:nvSpPr>
        <p:spPr>
          <a:xfrm>
            <a:off x="148427" y="2007751"/>
            <a:ext cx="7467593" cy="538609"/>
          </a:xfrm>
          <a:prstGeom prst="wedgeRectCallout">
            <a:avLst>
              <a:gd name="adj1" fmla="val 59289"/>
              <a:gd name="adj2" fmla="val 5214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Moonen, M., B. De Moor, L. Vandenberghe and J. Vandewalle. </a:t>
            </a:r>
          </a:p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and off-line identification of linear state space models</a:t>
            </a:r>
          </a:p>
        </p:txBody>
      </p:sp>
      <p:sp>
        <p:nvSpPr>
          <p:cNvPr id="14" name="Fumetto: rettangolo 13">
            <a:extLst>
              <a:ext uri="{FF2B5EF4-FFF2-40B4-BE49-F238E27FC236}">
                <a16:creationId xmlns:a16="http://schemas.microsoft.com/office/drawing/2014/main" id="{2C4CB1DF-86A6-2399-E229-93DEEAA3DB8E}"/>
              </a:ext>
            </a:extLst>
          </p:cNvPr>
          <p:cNvSpPr/>
          <p:nvPr/>
        </p:nvSpPr>
        <p:spPr>
          <a:xfrm>
            <a:off x="148427" y="4000766"/>
            <a:ext cx="7467593" cy="548090"/>
          </a:xfrm>
          <a:prstGeom prst="wedgeRectCallout">
            <a:avLst>
              <a:gd name="adj1" fmla="val 59396"/>
              <a:gd name="adj2" fmla="val 39985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Viberg, M., B. Wahlberg and B.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Ottersten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.Analysis of state space system identification methods based on instrumental variables and subspace fitting</a:t>
            </a:r>
          </a:p>
        </p:txBody>
      </p:sp>
      <p:sp>
        <p:nvSpPr>
          <p:cNvPr id="15" name="Fumetto: rettangolo 14">
            <a:extLst>
              <a:ext uri="{FF2B5EF4-FFF2-40B4-BE49-F238E27FC236}">
                <a16:creationId xmlns:a16="http://schemas.microsoft.com/office/drawing/2014/main" id="{EF5EA25C-0DD2-0336-2B5B-195B5A600AE9}"/>
              </a:ext>
            </a:extLst>
          </p:cNvPr>
          <p:cNvSpPr/>
          <p:nvPr/>
        </p:nvSpPr>
        <p:spPr>
          <a:xfrm>
            <a:off x="148427" y="2677016"/>
            <a:ext cx="7467593" cy="538609"/>
          </a:xfrm>
          <a:prstGeom prst="wedgeRectCallout">
            <a:avLst>
              <a:gd name="adj1" fmla="val 58757"/>
              <a:gd name="adj2" fmla="val 3886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Verhaegen, M. and P. Dewilde. Subspace identification, part I: The output-error state space model identification class of algorithms.</a:t>
            </a:r>
          </a:p>
        </p:txBody>
      </p:sp>
      <p:sp>
        <p:nvSpPr>
          <p:cNvPr id="16" name="Fumetto: rettangolo 15">
            <a:extLst>
              <a:ext uri="{FF2B5EF4-FFF2-40B4-BE49-F238E27FC236}">
                <a16:creationId xmlns:a16="http://schemas.microsoft.com/office/drawing/2014/main" id="{EF3A9DE0-8777-B5D3-5E09-8BFD229D291E}"/>
              </a:ext>
            </a:extLst>
          </p:cNvPr>
          <p:cNvSpPr/>
          <p:nvPr/>
        </p:nvSpPr>
        <p:spPr>
          <a:xfrm>
            <a:off x="148427" y="3338891"/>
            <a:ext cx="7467593" cy="538609"/>
          </a:xfrm>
          <a:prstGeom prst="wedgeRectCallout">
            <a:avLst>
              <a:gd name="adj1" fmla="val 58544"/>
              <a:gd name="adj2" fmla="val 44768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Van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Overschee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P. and B. De Moor. Subspace identification for linear systems: theory, implementation</a:t>
            </a:r>
            <a:r>
              <a:rPr lang="en-GB" noProof="0" dirty="0">
                <a:solidFill>
                  <a:schemeClr val="tx1"/>
                </a:solidFill>
              </a:rPr>
              <a:t>,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applications.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92C1AE3-7FA9-0768-49A4-A271E526485D}"/>
              </a:ext>
            </a:extLst>
          </p:cNvPr>
          <p:cNvSpPr txBox="1"/>
          <p:nvPr/>
        </p:nvSpPr>
        <p:spPr>
          <a:xfrm>
            <a:off x="8305798" y="1272897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1978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766262C-9D4A-05F8-DC9C-B4B0EDA8A43D}"/>
              </a:ext>
            </a:extLst>
          </p:cNvPr>
          <p:cNvSpPr txBox="1"/>
          <p:nvPr/>
        </p:nvSpPr>
        <p:spPr>
          <a:xfrm>
            <a:off x="8305800" y="1840468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1979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5726C7A-C8D6-0005-4817-2E0458339F3C}"/>
              </a:ext>
            </a:extLst>
          </p:cNvPr>
          <p:cNvSpPr txBox="1"/>
          <p:nvPr/>
        </p:nvSpPr>
        <p:spPr>
          <a:xfrm>
            <a:off x="8305800" y="2438400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1989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5DD1D19-0A29-42F1-D987-F86EF816E7B9}"/>
              </a:ext>
            </a:extLst>
          </p:cNvPr>
          <p:cNvSpPr txBox="1"/>
          <p:nvPr/>
        </p:nvSpPr>
        <p:spPr>
          <a:xfrm>
            <a:off x="8305800" y="3048000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1992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AA7EA63-0756-7059-627D-91E2888DADBF}"/>
              </a:ext>
            </a:extLst>
          </p:cNvPr>
          <p:cNvSpPr txBox="1"/>
          <p:nvPr/>
        </p:nvSpPr>
        <p:spPr>
          <a:xfrm>
            <a:off x="8305800" y="3657600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1996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A592A5D6-2205-5283-1CC8-EA3227663E9D}"/>
              </a:ext>
            </a:extLst>
          </p:cNvPr>
          <p:cNvSpPr txBox="1"/>
          <p:nvPr/>
        </p:nvSpPr>
        <p:spPr>
          <a:xfrm>
            <a:off x="8305800" y="4281890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1997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D9B5297-442E-5E98-88E0-8BF916E6EBD8}"/>
              </a:ext>
            </a:extLst>
          </p:cNvPr>
          <p:cNvSpPr txBox="1"/>
          <p:nvPr/>
        </p:nvSpPr>
        <p:spPr>
          <a:xfrm>
            <a:off x="8305800" y="5117068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1998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BFF634F-8CE1-A5A2-F8DE-FF455CB76FAC}"/>
              </a:ext>
            </a:extLst>
          </p:cNvPr>
          <p:cNvSpPr txBox="1"/>
          <p:nvPr/>
        </p:nvSpPr>
        <p:spPr>
          <a:xfrm>
            <a:off x="8305799" y="5708821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rgbClr val="FF0000"/>
                </a:solidFill>
              </a:rPr>
              <a:t>1999</a:t>
            </a:r>
          </a:p>
        </p:txBody>
      </p:sp>
    </p:spTree>
    <p:extLst>
      <p:ext uri="{BB962C8B-B14F-4D97-AF65-F5344CB8AC3E}">
        <p14:creationId xmlns:p14="http://schemas.microsoft.com/office/powerpoint/2010/main" val="948229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9">
            <a:extLst>
              <a:ext uri="{FF2B5EF4-FFF2-40B4-BE49-F238E27FC236}">
                <a16:creationId xmlns:a16="http://schemas.microsoft.com/office/drawing/2014/main" id="{256F6C98-2463-7EF6-4F69-D74472642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1170200" cy="533401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The Idea: from two separated frameworks…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9F5A5C9-82C0-571E-BB7F-162CFFDE4BBD}"/>
              </a:ext>
            </a:extLst>
          </p:cNvPr>
          <p:cNvSpPr/>
          <p:nvPr/>
        </p:nvSpPr>
        <p:spPr>
          <a:xfrm>
            <a:off x="176793" y="1063580"/>
            <a:ext cx="5760000" cy="4651420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2800" b="1" noProof="0" dirty="0">
                <a:solidFill>
                  <a:schemeClr val="tx1"/>
                </a:solidFill>
                <a:latin typeface="Arial Black" panose="020B0A04020102020204" pitchFamily="34" charset="0"/>
              </a:rPr>
              <a:t>SSI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D061AC2-4B4A-2395-3910-844D57BD6740}"/>
              </a:ext>
            </a:extLst>
          </p:cNvPr>
          <p:cNvSpPr/>
          <p:nvPr/>
        </p:nvSpPr>
        <p:spPr>
          <a:xfrm>
            <a:off x="6172200" y="1063580"/>
            <a:ext cx="5760000" cy="4651420"/>
          </a:xfrm>
          <a:prstGeom prst="rect">
            <a:avLst/>
          </a:prstGeom>
          <a:solidFill>
            <a:srgbClr val="33CCFF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2800" b="1" noProof="0" dirty="0">
                <a:solidFill>
                  <a:schemeClr val="tx1"/>
                </a:solidFill>
                <a:latin typeface="Arial Black" panose="020B0A04020102020204" pitchFamily="34" charset="0"/>
              </a:rPr>
              <a:t>MPC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Fumetto: rettangolo 10">
                <a:extLst>
                  <a:ext uri="{FF2B5EF4-FFF2-40B4-BE49-F238E27FC236}">
                    <a16:creationId xmlns:a16="http://schemas.microsoft.com/office/drawing/2014/main" id="{C424220C-3218-2BC6-D984-D03966D77C24}"/>
                  </a:ext>
                </a:extLst>
              </p:cNvPr>
              <p:cNvSpPr/>
              <p:nvPr/>
            </p:nvSpPr>
            <p:spPr>
              <a:xfrm>
                <a:off x="515813" y="1600200"/>
                <a:ext cx="5185573" cy="53860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400" noProof="0" dirty="0">
                    <a:solidFill>
                      <a:sysClr val="windowText" lastClr="000000"/>
                    </a:solidFill>
                    <a:ea typeface="+mn-ea"/>
                    <a:cs typeface="+mn-cs"/>
                  </a:rPr>
                  <a:t>Data Block Hankel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𝑈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</m:oMath>
                </a14:m>
                <a:endParaRPr lang="en-GB" sz="2400" b="0" noProof="0" dirty="0">
                  <a:solidFill>
                    <a:sysClr val="windowText" lastClr="00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Fumetto: rettangolo 10">
                <a:extLst>
                  <a:ext uri="{FF2B5EF4-FFF2-40B4-BE49-F238E27FC236}">
                    <a16:creationId xmlns:a16="http://schemas.microsoft.com/office/drawing/2014/main" id="{C424220C-3218-2BC6-D984-D03966D77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13" y="1600200"/>
                <a:ext cx="5185573" cy="53860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blipFill>
                <a:blip r:embed="rId2"/>
                <a:stretch>
                  <a:fillRect l="-1639" t="-62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umetto: rettangolo 12">
            <a:extLst>
              <a:ext uri="{FF2B5EF4-FFF2-40B4-BE49-F238E27FC236}">
                <a16:creationId xmlns:a16="http://schemas.microsoft.com/office/drawing/2014/main" id="{95D29C11-9067-7ABB-2F02-2B3D35430A5C}"/>
              </a:ext>
            </a:extLst>
          </p:cNvPr>
          <p:cNvSpPr/>
          <p:nvPr/>
        </p:nvSpPr>
        <p:spPr>
          <a:xfrm>
            <a:off x="515812" y="2590800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QR and SV decomposition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sp>
        <p:nvSpPr>
          <p:cNvPr id="14" name="Fumetto: rettangolo 13">
            <a:extLst>
              <a:ext uri="{FF2B5EF4-FFF2-40B4-BE49-F238E27FC236}">
                <a16:creationId xmlns:a16="http://schemas.microsoft.com/office/drawing/2014/main" id="{BF4FB094-3F74-E501-2B59-EF57A102CCB3}"/>
              </a:ext>
            </a:extLst>
          </p:cNvPr>
          <p:cNvSpPr/>
          <p:nvPr/>
        </p:nvSpPr>
        <p:spPr>
          <a:xfrm>
            <a:off x="541654" y="3565497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0" noProof="0" dirty="0">
                <a:solidFill>
                  <a:sysClr val="windowText" lastClr="000000"/>
                </a:solidFill>
              </a:rPr>
              <a:t>State space matrices A and C calculation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Fumetto: rettangolo 14">
                <a:extLst>
                  <a:ext uri="{FF2B5EF4-FFF2-40B4-BE49-F238E27FC236}">
                    <a16:creationId xmlns:a16="http://schemas.microsoft.com/office/drawing/2014/main" id="{403A2B70-5159-414D-0C68-B77F46BD3B9F}"/>
                  </a:ext>
                </a:extLst>
              </p:cNvPr>
              <p:cNvSpPr/>
              <p:nvPr/>
            </p:nvSpPr>
            <p:spPr>
              <a:xfrm>
                <a:off x="541653" y="4510981"/>
                <a:ext cx="5185573" cy="67061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400" b="0" noProof="0" dirty="0">
                    <a:solidFill>
                      <a:sysClr val="windowText" lastClr="000000"/>
                    </a:solidFill>
                  </a:rPr>
                  <a:t>State space matrices </a:t>
                </a:r>
                <a:r>
                  <a:rPr lang="en-GB" sz="2400" noProof="0" dirty="0">
                    <a:solidFill>
                      <a:sysClr val="windowText" lastClr="000000"/>
                    </a:solidFill>
                  </a:rPr>
                  <a:t>B and D, </a:t>
                </a:r>
                <a:br>
                  <a:rPr lang="en-GB" sz="2400" noProof="0" dirty="0">
                    <a:solidFill>
                      <a:sysClr val="windowText" lastClr="000000"/>
                    </a:solidFill>
                  </a:rPr>
                </a:br>
                <a:r>
                  <a:rPr lang="en-GB" sz="2400" noProof="0" dirty="0">
                    <a:solidFill>
                      <a:sysClr val="windowText" lastClr="000000"/>
                    </a:solidFill>
                  </a:rPr>
                  <a:t>initial state </a:t>
                </a:r>
                <a14:m>
                  <m:oMath xmlns:m="http://schemas.openxmlformats.org/officeDocument/2006/math"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GB" sz="2400" noProof="0" dirty="0">
                    <a:solidFill>
                      <a:sysClr val="windowText" lastClr="000000"/>
                    </a:solidFill>
                  </a:rPr>
                  <a:t> </a:t>
                </a:r>
                <a:r>
                  <a:rPr lang="en-GB" sz="2400" b="0" noProof="0" dirty="0">
                    <a:solidFill>
                      <a:sysClr val="windowText" lastClr="000000"/>
                    </a:solidFill>
                  </a:rPr>
                  <a:t>calculation</a:t>
                </a:r>
                <a:endParaRPr lang="en-GB" sz="2400" b="0" noProof="0" dirty="0">
                  <a:solidFill>
                    <a:sysClr val="windowText" lastClr="00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Fumetto: rettangolo 14">
                <a:extLst>
                  <a:ext uri="{FF2B5EF4-FFF2-40B4-BE49-F238E27FC236}">
                    <a16:creationId xmlns:a16="http://schemas.microsoft.com/office/drawing/2014/main" id="{403A2B70-5159-414D-0C68-B77F46BD3B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53" y="4510981"/>
                <a:ext cx="5185573" cy="67061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blipFill>
                <a:blip r:embed="rId3"/>
                <a:stretch>
                  <a:fillRect l="-1637" t="-950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umetto: rettangolo 15">
            <a:extLst>
              <a:ext uri="{FF2B5EF4-FFF2-40B4-BE49-F238E27FC236}">
                <a16:creationId xmlns:a16="http://schemas.microsoft.com/office/drawing/2014/main" id="{B9DDAEC6-B90E-2FEE-DF11-863D80005FFB}"/>
              </a:ext>
            </a:extLst>
          </p:cNvPr>
          <p:cNvSpPr/>
          <p:nvPr/>
        </p:nvSpPr>
        <p:spPr>
          <a:xfrm>
            <a:off x="6459413" y="2514600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LS problem and Model calculation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sp>
        <p:nvSpPr>
          <p:cNvPr id="17" name="Fumetto: rettangolo 16">
            <a:extLst>
              <a:ext uri="{FF2B5EF4-FFF2-40B4-BE49-F238E27FC236}">
                <a16:creationId xmlns:a16="http://schemas.microsoft.com/office/drawing/2014/main" id="{80FA5187-C2DA-BD98-DE3A-2E172CDEB7A2}"/>
              </a:ext>
            </a:extLst>
          </p:cNvPr>
          <p:cNvSpPr/>
          <p:nvPr/>
        </p:nvSpPr>
        <p:spPr>
          <a:xfrm>
            <a:off x="6459412" y="3505200"/>
            <a:ext cx="5185573" cy="685801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Predictor from the model and online </a:t>
            </a:r>
            <a:r>
              <a:rPr lang="en-GB" sz="2400" noProof="0" dirty="0">
                <a:solidFill>
                  <a:sysClr val="windowText" lastClr="000000"/>
                </a:solidFill>
              </a:rPr>
              <a:t>preferred input</a:t>
            </a:r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 calculation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sp>
        <p:nvSpPr>
          <p:cNvPr id="18" name="Fumetto: rettangolo 17">
            <a:extLst>
              <a:ext uri="{FF2B5EF4-FFF2-40B4-BE49-F238E27FC236}">
                <a16:creationId xmlns:a16="http://schemas.microsoft.com/office/drawing/2014/main" id="{F699B06A-5F60-57F1-42A2-A19E4E564FDF}"/>
              </a:ext>
            </a:extLst>
          </p:cNvPr>
          <p:cNvSpPr/>
          <p:nvPr/>
        </p:nvSpPr>
        <p:spPr>
          <a:xfrm>
            <a:off x="6459411" y="4747686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Online system control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59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E85BD-FD0A-6CA6-17BE-FA543B3B9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904860A-4A7D-F42A-56C7-2C27837C872B}"/>
              </a:ext>
            </a:extLst>
          </p:cNvPr>
          <p:cNvSpPr/>
          <p:nvPr/>
        </p:nvSpPr>
        <p:spPr>
          <a:xfrm>
            <a:off x="176792" y="1063580"/>
            <a:ext cx="11786607" cy="4651420"/>
          </a:xfrm>
          <a:prstGeom prst="rect">
            <a:avLst/>
          </a:prstGeom>
          <a:solidFill>
            <a:srgbClr val="92D050">
              <a:alpha val="50196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2800" b="1" noProof="0" dirty="0">
                <a:solidFill>
                  <a:schemeClr val="tx1"/>
                </a:solidFill>
                <a:latin typeface="Arial Black" panose="020B0A04020102020204" pitchFamily="34" charset="0"/>
              </a:rPr>
              <a:t>SSI + MPC = SPC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Fumetto: rettangolo 10">
                <a:extLst>
                  <a:ext uri="{FF2B5EF4-FFF2-40B4-BE49-F238E27FC236}">
                    <a16:creationId xmlns:a16="http://schemas.microsoft.com/office/drawing/2014/main" id="{2191F0F2-1292-4F6F-2296-37613DBAEDED}"/>
                  </a:ext>
                </a:extLst>
              </p:cNvPr>
              <p:cNvSpPr/>
              <p:nvPr/>
            </p:nvSpPr>
            <p:spPr>
              <a:xfrm>
                <a:off x="515813" y="1600200"/>
                <a:ext cx="5185573" cy="53860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400" noProof="0" dirty="0">
                    <a:solidFill>
                      <a:sysClr val="windowText" lastClr="000000"/>
                    </a:solidFill>
                    <a:ea typeface="+mn-ea"/>
                    <a:cs typeface="+mn-cs"/>
                  </a:rPr>
                  <a:t>Data Block Hankel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𝑈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</m:oMath>
                </a14:m>
                <a:endParaRPr lang="en-GB" sz="2400" b="0" noProof="0" dirty="0">
                  <a:solidFill>
                    <a:sysClr val="windowText" lastClr="00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Fumetto: rettangolo 10">
                <a:extLst>
                  <a:ext uri="{FF2B5EF4-FFF2-40B4-BE49-F238E27FC236}">
                    <a16:creationId xmlns:a16="http://schemas.microsoft.com/office/drawing/2014/main" id="{2191F0F2-1292-4F6F-2296-37613DBAED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13" y="1600200"/>
                <a:ext cx="5185573" cy="53860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blipFill>
                <a:blip r:embed="rId2"/>
                <a:stretch>
                  <a:fillRect l="-1639" t="-62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umetto: rettangolo 12">
            <a:extLst>
              <a:ext uri="{FF2B5EF4-FFF2-40B4-BE49-F238E27FC236}">
                <a16:creationId xmlns:a16="http://schemas.microsoft.com/office/drawing/2014/main" id="{78EDBCA0-DEA3-B9E3-7A5B-9D8D4DE0EB13}"/>
              </a:ext>
            </a:extLst>
          </p:cNvPr>
          <p:cNvSpPr/>
          <p:nvPr/>
        </p:nvSpPr>
        <p:spPr>
          <a:xfrm>
            <a:off x="515812" y="2590800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QR and SV decomposition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sp>
        <p:nvSpPr>
          <p:cNvPr id="17" name="Fumetto: rettangolo 16">
            <a:extLst>
              <a:ext uri="{FF2B5EF4-FFF2-40B4-BE49-F238E27FC236}">
                <a16:creationId xmlns:a16="http://schemas.microsoft.com/office/drawing/2014/main" id="{69DDBD5B-FA39-2443-1F51-47D59956A73B}"/>
              </a:ext>
            </a:extLst>
          </p:cNvPr>
          <p:cNvSpPr/>
          <p:nvPr/>
        </p:nvSpPr>
        <p:spPr>
          <a:xfrm>
            <a:off x="6459412" y="3505200"/>
            <a:ext cx="5185573" cy="685801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Predictor from the model and online </a:t>
            </a:r>
            <a:r>
              <a:rPr lang="en-GB" sz="2400" noProof="0" dirty="0">
                <a:solidFill>
                  <a:sysClr val="windowText" lastClr="000000"/>
                </a:solidFill>
              </a:rPr>
              <a:t>preferred input</a:t>
            </a:r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 calculation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sp>
        <p:nvSpPr>
          <p:cNvPr id="18" name="Fumetto: rettangolo 17">
            <a:extLst>
              <a:ext uri="{FF2B5EF4-FFF2-40B4-BE49-F238E27FC236}">
                <a16:creationId xmlns:a16="http://schemas.microsoft.com/office/drawing/2014/main" id="{32FA1CE3-567B-D71C-54AD-8D27C853BEA0}"/>
              </a:ext>
            </a:extLst>
          </p:cNvPr>
          <p:cNvSpPr/>
          <p:nvPr/>
        </p:nvSpPr>
        <p:spPr>
          <a:xfrm>
            <a:off x="6459411" y="4747686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Online system control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Fumetto: rettangolo 1">
                <a:extLst>
                  <a:ext uri="{FF2B5EF4-FFF2-40B4-BE49-F238E27FC236}">
                    <a16:creationId xmlns:a16="http://schemas.microsoft.com/office/drawing/2014/main" id="{D189872F-CEB3-8E6B-A8A6-A8B8BC70004B}"/>
                  </a:ext>
                </a:extLst>
              </p:cNvPr>
              <p:cNvSpPr/>
              <p:nvPr/>
            </p:nvSpPr>
            <p:spPr>
              <a:xfrm>
                <a:off x="515812" y="3582486"/>
                <a:ext cx="5185573" cy="538609"/>
              </a:xfrm>
              <a:prstGeom prst="wedgeRectCallout">
                <a:avLst>
                  <a:gd name="adj1" fmla="val 64540"/>
                  <a:gd name="adj2" fmla="val 4836"/>
                </a:avLst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400" noProof="0" dirty="0">
                    <a:solidFill>
                      <a:sysClr val="windowText" lastClr="000000"/>
                    </a:solidFill>
                    <a:ea typeface="+mn-ea"/>
                    <a:cs typeface="+mn-cs"/>
                  </a:rPr>
                  <a:t>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sub>
                    </m:sSub>
                  </m:oMath>
                </a14:m>
                <a:endParaRPr lang="en-GB" sz="2400" b="0" noProof="0" dirty="0">
                  <a:solidFill>
                    <a:sysClr val="windowText" lastClr="00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Fumetto: rettangolo 1">
                <a:extLst>
                  <a:ext uri="{FF2B5EF4-FFF2-40B4-BE49-F238E27FC236}">
                    <a16:creationId xmlns:a16="http://schemas.microsoft.com/office/drawing/2014/main" id="{D189872F-CEB3-8E6B-A8A6-A8B8BC7000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12" y="3582486"/>
                <a:ext cx="5185573" cy="538609"/>
              </a:xfrm>
              <a:prstGeom prst="wedgeRectCallout">
                <a:avLst>
                  <a:gd name="adj1" fmla="val 64540"/>
                  <a:gd name="adj2" fmla="val 4836"/>
                </a:avLst>
              </a:prstGeom>
              <a:blipFill>
                <a:blip r:embed="rId3"/>
                <a:stretch>
                  <a:fillRect l="-1431" b="-15217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olo 9">
            <a:extLst>
              <a:ext uri="{FF2B5EF4-FFF2-40B4-BE49-F238E27FC236}">
                <a16:creationId xmlns:a16="http://schemas.microsoft.com/office/drawing/2014/main" id="{EADE46E3-28D2-4F66-CBDC-9A3143F70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439400" cy="533401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The Idea: … to a unified framework</a:t>
            </a:r>
          </a:p>
        </p:txBody>
      </p:sp>
    </p:spTree>
    <p:extLst>
      <p:ext uri="{BB962C8B-B14F-4D97-AF65-F5344CB8AC3E}">
        <p14:creationId xmlns:p14="http://schemas.microsoft.com/office/powerpoint/2010/main" val="3176103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8222F-1461-7BFE-6657-A8744E1E4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BA8D8462-C72A-3FC4-9607-F2AEE8C64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Problem setting –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context of application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C3A9D56-9CA0-38A9-0194-6995CE6AD34B}"/>
              </a:ext>
            </a:extLst>
          </p:cNvPr>
          <p:cNvSpPr txBox="1"/>
          <p:nvPr/>
        </p:nvSpPr>
        <p:spPr>
          <a:xfrm>
            <a:off x="762000" y="1676400"/>
            <a:ext cx="9677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Subspace System Identification and Model Predictive Control are two widely studied and applied methods to solve two problems that are usually considered separate: these problems being system identification and system control.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SPC method aims to replace the system identification step and the calculation of the controller parameters with a QR decomposition followed by an SVD decomposition of a matrix that is constructed using known inputs and outputs only, combining the two solution to two problems into an elegant solution  for one big problem.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41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3813E-68A3-28F5-C92E-8C2615847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C2287B64-819A-222C-D66C-9E7F168C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515598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System model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49EC1B8-EC3A-FA81-4CFB-7D1041980CA9}"/>
              </a:ext>
            </a:extLst>
          </p:cNvPr>
          <p:cNvSpPr txBox="1"/>
          <p:nvPr/>
        </p:nvSpPr>
        <p:spPr>
          <a:xfrm>
            <a:off x="761999" y="1219200"/>
            <a:ext cx="105155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paper considers a LTI system of the form: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Where: 	</a:t>
            </a: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	  are the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system inputs		</a:t>
            </a: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	  are the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system outputs		</a:t>
            </a:r>
          </a:p>
          <a:p>
            <a:pPr algn="just"/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	  are the system states</a:t>
            </a:r>
          </a:p>
          <a:p>
            <a:pPr algn="just"/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					            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is the noise sequence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GB" sz="2400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only </a:t>
            </a:r>
            <a:r>
              <a:rPr lang="en-GB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GB" sz="12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GB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GB" sz="12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known 	</a:t>
            </a: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7" name="Picture 13">
            <a:extLst>
              <a:ext uri="{FF2B5EF4-FFF2-40B4-BE49-F238E27FC236}">
                <a16:creationId xmlns:a16="http://schemas.microsoft.com/office/drawing/2014/main" id="{22782CCD-2EDD-0D55-CB6A-90B8004B79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11200"/>
          <a:stretch>
            <a:fillRect/>
          </a:stretch>
        </p:blipFill>
        <p:spPr bwMode="auto">
          <a:xfrm>
            <a:off x="931333" y="3817756"/>
            <a:ext cx="1042987" cy="363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F2130169-7A62-2370-6033-AF59ED3C54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916"/>
          <a:stretch>
            <a:fillRect/>
          </a:stretch>
        </p:blipFill>
        <p:spPr bwMode="auto">
          <a:xfrm>
            <a:off x="914401" y="4223426"/>
            <a:ext cx="1042988" cy="42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>
            <a:extLst>
              <a:ext uri="{FF2B5EF4-FFF2-40B4-BE49-F238E27FC236}">
                <a16:creationId xmlns:a16="http://schemas.microsoft.com/office/drawing/2014/main" id="{155CD979-0889-241F-CF57-01126C6459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19"/>
          <a:stretch>
            <a:fillRect/>
          </a:stretch>
        </p:blipFill>
        <p:spPr bwMode="auto">
          <a:xfrm>
            <a:off x="914401" y="4561728"/>
            <a:ext cx="1059920" cy="42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04C8C31-9EE7-2A9B-EBD8-FEC10261F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424" y="4953000"/>
            <a:ext cx="222779" cy="3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magine 16" descr="Immagine che contiene testo, Carattere, bianco, linea&#10;&#10;Il contenuto generato dall'IA potrebbe non essere corretto.">
            <a:extLst>
              <a:ext uri="{FF2B5EF4-FFF2-40B4-BE49-F238E27FC236}">
                <a16:creationId xmlns:a16="http://schemas.microsoft.com/office/drawing/2014/main" id="{45778853-4A7D-D6C6-3591-D8D2A8832E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1628" y="4909227"/>
            <a:ext cx="5146288" cy="4247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098EEB-0979-B007-23A3-DFA18A005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52473"/>
            <a:ext cx="4535515" cy="1036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0016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7DE3-51CD-6B5A-2B5E-0306F45D4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4C25E8CD-460D-EA59-6695-FF3B1931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Block Hankel matrices definition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9CB48FC-5C86-0F21-A5FE-DF198C688242}"/>
              </a:ext>
            </a:extLst>
          </p:cNvPr>
          <p:cNvSpPr txBox="1"/>
          <p:nvPr/>
        </p:nvSpPr>
        <p:spPr>
          <a:xfrm>
            <a:off x="762000" y="1676400"/>
            <a:ext cx="107442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SPC algorithm starts by defining the block Hankel matrices for inputs, outputs and noise, assuming k= </a:t>
            </a:r>
            <a:r>
              <a:rPr lang="en-GB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N+M+j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total samples for all three signals: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We define the matrices			     in the same way.</a:t>
            </a:r>
          </a:p>
          <a:p>
            <a:pPr algn="just"/>
            <a:endParaRPr lang="en-GB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represents “past” matrices, with M being the number of “past” data points</a:t>
            </a:r>
          </a:p>
          <a:p>
            <a:pPr algn="just"/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represents “future”	matrices, with N being the number of “future” data points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4F164D35-540F-683B-ECC3-C08E58382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653755"/>
            <a:ext cx="4191000" cy="1478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347E99B8-3CE4-4F97-7F95-CF09DA3AE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774" y="2667000"/>
            <a:ext cx="4682226" cy="145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5B787739-D46B-F10D-E3AA-16E4AC3E9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46620"/>
            <a:ext cx="2514600" cy="46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05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6F93E-BDE8-743C-18D0-EE4524F56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E17F0281-5AB2-0FC7-45E2-BFCD6639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1615827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Defining the predictor and LS problem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507F1CA-760D-7610-6074-9D33BF23D5C8}"/>
              </a:ext>
            </a:extLst>
          </p:cNvPr>
          <p:cNvSpPr txBox="1"/>
          <p:nvPr/>
        </p:nvSpPr>
        <p:spPr>
          <a:xfrm>
            <a:off x="762000" y="1676400"/>
            <a:ext cx="10744200" cy="4203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Using past matrices we can build matrix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We can find a linear predictor of the outputs solving the last squares problem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And then predict the outputs as: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EA5F3F5-C136-FDAA-A0E5-9B30AAD6E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559818"/>
            <a:ext cx="1752600" cy="691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58D14BED-06E0-AF68-FCC9-319D3D26B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2" y="3026962"/>
            <a:ext cx="7800975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 descr="Immagine che contiene testo, Carattere, bianco, linea&#10;&#10;Il contenuto generato dall'IA potrebbe non essere corretto.">
            <a:extLst>
              <a:ext uri="{FF2B5EF4-FFF2-40B4-BE49-F238E27FC236}">
                <a16:creationId xmlns:a16="http://schemas.microsoft.com/office/drawing/2014/main" id="{EE82EBC4-754D-4D75-3AC9-794E03EE7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4747810"/>
            <a:ext cx="5410200" cy="81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6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DC92A-4B12-4310-5445-23DD1B263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0CCEDA94-E413-B429-A6A5-E9B625CE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Subspace Step 1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7A28961-FE8E-DBE6-658C-1CF89EA111A0}"/>
              </a:ext>
            </a:extLst>
          </p:cNvPr>
          <p:cNvSpPr txBox="1"/>
          <p:nvPr/>
        </p:nvSpPr>
        <p:spPr>
          <a:xfrm>
            <a:off x="723900" y="1191645"/>
            <a:ext cx="10744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We can solve the Least Squares problem using QR decomposition like so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And then computing the matrix 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and thus: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E7E1F09-7C16-296C-4CF3-EFD91FD30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6400799" cy="1822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03B6592E-7D46-D962-F6B1-82CF1B530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76830"/>
            <a:ext cx="4343400" cy="828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149A6B57-5CEE-C02B-D4BE-FCBA8BC3C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953000"/>
            <a:ext cx="3200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285E648B-7359-C131-0198-9CC822754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748" y="4953000"/>
            <a:ext cx="3492903" cy="53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7720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1D38E-E42A-794A-265F-EE9B02AF1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2E3A97D5-B71A-83F2-FF50-EEA420BD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Subspace Step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1B4B6DF-2C26-DCB2-E799-BC690D152E4A}"/>
                  </a:ext>
                </a:extLst>
              </p:cNvPr>
              <p:cNvSpPr txBox="1"/>
              <p:nvPr/>
            </p:nvSpPr>
            <p:spPr>
              <a:xfrm>
                <a:off x="533400" y="1191645"/>
                <a:ext cx="11201400" cy="3106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The next step of the algorithm is to execute a rank-n approximation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using SV decomposition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400" i="1" noProof="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400" i="1" noProof="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is chosen by inspecting the number of singular values of S):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Note: under the assumption that the number of columns of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it-IT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it-IT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is infinite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=∞</m:t>
                        </m:r>
                      </m:e>
                    </m:d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there is a direct link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the observability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Γ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the state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1B4B6DF-2C26-DCB2-E799-BC690D152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191645"/>
                <a:ext cx="11201400" cy="3106235"/>
              </a:xfrm>
              <a:prstGeom prst="rect">
                <a:avLst/>
              </a:prstGeom>
              <a:blipFill>
                <a:blip r:embed="rId2"/>
                <a:stretch>
                  <a:fillRect l="-871" t="-1373" r="-817" b="-254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>
            <a:extLst>
              <a:ext uri="{FF2B5EF4-FFF2-40B4-BE49-F238E27FC236}">
                <a16:creationId xmlns:a16="http://schemas.microsoft.com/office/drawing/2014/main" id="{5BA532AF-A20F-2BC1-4CBE-CDD59562E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263" y="2057400"/>
            <a:ext cx="6527158" cy="127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>
            <a:extLst>
              <a:ext uri="{FF2B5EF4-FFF2-40B4-BE49-F238E27FC236}">
                <a16:creationId xmlns:a16="http://schemas.microsoft.com/office/drawing/2014/main" id="{CE28A8CE-E4CC-199A-A7D6-56874E14E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4572000"/>
            <a:ext cx="1964724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5" name="Picture 15">
            <a:extLst>
              <a:ext uri="{FF2B5EF4-FFF2-40B4-BE49-F238E27FC236}">
                <a16:creationId xmlns:a16="http://schemas.microsoft.com/office/drawing/2014/main" id="{208A52BD-01C4-AAF0-3F91-52838E9F9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572000"/>
            <a:ext cx="3393822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1511BC54-FC04-4EF5-B6CB-DB2BC5202002}"/>
                  </a:ext>
                </a:extLst>
              </p:cNvPr>
              <p:cNvSpPr txBox="1"/>
              <p:nvPr/>
            </p:nvSpPr>
            <p:spPr>
              <a:xfrm>
                <a:off x="7239000" y="4648200"/>
                <a:ext cx="4229100" cy="6823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1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GB" sz="1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GB" sz="1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GB" sz="18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GB" noProof="0" dirty="0"/>
                  <a:t>is a Kalman filter estimate of</a:t>
                </a:r>
                <a14:m>
                  <m:oMath xmlns:m="http://schemas.openxmlformats.org/officeDocument/2006/math">
                    <m:r>
                      <a:rPr lang="en-GB" sz="1800" b="0" i="0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n-GB" sz="18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GB" sz="1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endParaRPr lang="en-GB" noProof="0" dirty="0"/>
              </a:p>
              <a:p>
                <a:endParaRPr lang="en-GB" noProof="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1511BC54-FC04-4EF5-B6CB-DB2BC5202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4648200"/>
                <a:ext cx="4229100" cy="682366"/>
              </a:xfrm>
              <a:prstGeom prst="rect">
                <a:avLst/>
              </a:prstGeom>
              <a:blipFill>
                <a:blip r:embed="rId6"/>
                <a:stretch>
                  <a:fillRect t="-360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0267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E50CC-0AE1-267D-FC4D-B9618FB6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177C2024-14B5-7E65-430A-6F702AF4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MPC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6A839EB-6E78-0A60-AB09-75FB87247019}"/>
                  </a:ext>
                </a:extLst>
              </p:cNvPr>
              <p:cNvSpPr txBox="1"/>
              <p:nvPr/>
            </p:nvSpPr>
            <p:spPr>
              <a:xfrm>
                <a:off x="723900" y="1185270"/>
                <a:ext cx="10744200" cy="5215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The idea of the MPC portion of the algorithm revolves around the construction of a controller that minimizes a cost function J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𝐽</m:t>
                      </m:r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sz="3200" b="0" i="1" noProof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3200" b="0" i="1" noProof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sz="32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GB" sz="32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32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𝑄</m:t>
                      </m:r>
                      <m:r>
                        <a:rPr lang="it-IT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32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)+</m:t>
                      </m:r>
                      <m:sSubSup>
                        <m:sSubSupPr>
                          <m:ctrlP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  <m:sup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bSup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  <m:r>
                        <a:rPr lang="it-IT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∗</m:t>
                      </m:r>
                      <m:sSub>
                        <m:sSubPr>
                          <m:ctrlP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GB" sz="40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GB" sz="2400" b="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In this context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400" b="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are the reference outputs,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GB" sz="2400" b="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are the estimated outputs of the system,</a:t>
                </a:r>
                <a:r>
                  <a:rPr lang="en-GB" sz="2400" noProof="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400" b="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future input sequence, and Q* and R* are user- defined diagonal weight matrices.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noProof="0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GB" sz="2400" noProof="0" dirty="0">
                    <a:cs typeface="Arial" panose="020B0604020202020204" pitchFamily="34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noProof="0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GB" sz="2400" b="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-GB" sz="2400" noProof="0" dirty="0">
                    <a:cs typeface="Arial" panose="020B0604020202020204" pitchFamily="34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noProof="0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n-GB" sz="2400" b="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6A839EB-6E78-0A60-AB09-75FB87247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85270"/>
                <a:ext cx="10744200" cy="5215530"/>
              </a:xfrm>
              <a:prstGeom prst="rect">
                <a:avLst/>
              </a:prstGeom>
              <a:blipFill>
                <a:blip r:embed="rId3"/>
                <a:stretch>
                  <a:fillRect l="-908" t="-818" r="-8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2071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3C11E-7BCF-F721-1738-8FC042ABB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D4A6EC3A-C7C0-E9D2-0113-1DBC7FBC5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Principle of MPC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7438525-36CC-3470-CEA6-B1FF903B89EA}"/>
                  </a:ext>
                </a:extLst>
              </p:cNvPr>
              <p:cNvSpPr txBox="1"/>
              <p:nvPr/>
            </p:nvSpPr>
            <p:spPr>
              <a:xfrm>
                <a:off x="723900" y="1185270"/>
                <a:ext cx="10744200" cy="12299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The aim is to find the feature control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that minimizes the performance criterion J. The prediction of the forward horizon is done on the basis of the knowledge of the backward horizon.</a:t>
                </a:r>
                <a:endParaRPr lang="en-GB" sz="2400" b="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7438525-36CC-3470-CEA6-B1FF903B8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85270"/>
                <a:ext cx="10744200" cy="1229952"/>
              </a:xfrm>
              <a:prstGeom prst="rect">
                <a:avLst/>
              </a:prstGeom>
              <a:blipFill>
                <a:blip r:embed="rId3"/>
                <a:stretch>
                  <a:fillRect l="-908" t="-3960" r="-851" b="-1039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 descr="Immagine che contiene linea, diagramma, schizzo, bianco&#10;&#10;Il contenuto generato dall'IA potrebbe non essere corretto.">
            <a:extLst>
              <a:ext uri="{FF2B5EF4-FFF2-40B4-BE49-F238E27FC236}">
                <a16:creationId xmlns:a16="http://schemas.microsoft.com/office/drawing/2014/main" id="{B222F164-CA94-95B8-F4E9-4539198730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438400"/>
            <a:ext cx="6381193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13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5A748-8538-F760-9E6B-4F27E13A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E760A000-055B-7F77-DE2E-D83FE64AA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Control step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367F24C-DB9D-043A-C3E0-240A6426CF81}"/>
                  </a:ext>
                </a:extLst>
              </p:cNvPr>
              <p:cNvSpPr txBox="1"/>
              <p:nvPr/>
            </p:nvSpPr>
            <p:spPr>
              <a:xfrm>
                <a:off x="723900" y="1191645"/>
                <a:ext cx="10744200" cy="50628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We need to define the controller input,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, using the past inputs and outputs of the system: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Where M, as defined previously, is the number of past data points.</a:t>
                </a: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The cost function J can now be rewritten as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𝐽</m:t>
                      </m:r>
                      <m:r>
                        <a:rPr lang="it-IT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𝑤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sub>
                                <m:sup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sub>
                                <m:sup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it-IT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  <m:sup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p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sSubSup>
                        <m:sSubSup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  <m:sup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GB" sz="28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367F24C-DB9D-043A-C3E0-240A6426C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91645"/>
                <a:ext cx="10744200" cy="5062861"/>
              </a:xfrm>
              <a:prstGeom prst="rect">
                <a:avLst/>
              </a:prstGeom>
              <a:blipFill>
                <a:blip r:embed="rId3"/>
                <a:stretch>
                  <a:fillRect l="-908" t="-963" r="-8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 descr="Immagine che contiene testo, diagramma, Carattere, calligrafia&#10;&#10;Il contenuto generato dall'IA potrebbe non essere corretto.">
            <a:extLst>
              <a:ext uri="{FF2B5EF4-FFF2-40B4-BE49-F238E27FC236}">
                <a16:creationId xmlns:a16="http://schemas.microsoft.com/office/drawing/2014/main" id="{9C5B678B-7C69-BB7D-7529-AFB3639DE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1977986"/>
            <a:ext cx="7634010" cy="213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629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2A103-772A-6F4E-43CD-BAD0F96AE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EB99D7A1-39CC-A3DC-F5B5-B982E0711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Control step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1AD414A0-A715-1469-0125-37B4B3F31316}"/>
                  </a:ext>
                </a:extLst>
              </p:cNvPr>
              <p:cNvSpPr txBox="1"/>
              <p:nvPr/>
            </p:nvSpPr>
            <p:spPr>
              <a:xfrm>
                <a:off x="723900" y="1191645"/>
                <a:ext cx="10744200" cy="3088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Now, we can implement the first input,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, of the SPC controller sequence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it-IT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  <m:sup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, that can be computed as: 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And then repeat these last two steps iteratively to implement the following control steps, using the newly measured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1AD414A0-A715-1469-0125-37B4B3F31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91645"/>
                <a:ext cx="10744200" cy="3088089"/>
              </a:xfrm>
              <a:prstGeom prst="rect">
                <a:avLst/>
              </a:prstGeom>
              <a:blipFill>
                <a:blip r:embed="rId2"/>
                <a:stretch>
                  <a:fillRect l="-908" t="-1578" r="-851" b="-355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>
            <a:extLst>
              <a:ext uri="{FF2B5EF4-FFF2-40B4-BE49-F238E27FC236}">
                <a16:creationId xmlns:a16="http://schemas.microsoft.com/office/drawing/2014/main" id="{14604139-090A-839C-2EB5-D50708A52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941" y="2133600"/>
            <a:ext cx="10176159" cy="101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24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5A212-F7F3-E3A6-4384-717E60898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8895E181-0BB5-68A0-F54D-4F4FCCFB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System setting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E214AF7-BD5F-1697-AC34-4C091718BD70}"/>
              </a:ext>
            </a:extLst>
          </p:cNvPr>
          <p:cNvSpPr txBox="1"/>
          <p:nvPr/>
        </p:nvSpPr>
        <p:spPr>
          <a:xfrm>
            <a:off x="762000" y="1676400"/>
            <a:ext cx="10134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implementation of the algorithm began by defining the LTI MIMO system to be utilized; we decided to use the following parameters and matrices: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magine 2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945E8376-E15B-BA04-D3D3-3E36991F3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95600"/>
            <a:ext cx="6019800" cy="303214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0EDE38C-35CF-DD8A-2B5B-F2C6B592AE5D}"/>
              </a:ext>
            </a:extLst>
          </p:cNvPr>
          <p:cNvSpPr txBox="1"/>
          <p:nvPr/>
        </p:nvSpPr>
        <p:spPr>
          <a:xfrm>
            <a:off x="7086600" y="4724400"/>
            <a:ext cx="381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The input signals chosen were two PRBS, to ensure persistent excitation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24430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0424C-B290-B03B-55D1-C9265E154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A5FFD409-A334-5DB8-496B-473C2C587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Hankel Block matrices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5AE0948-69BC-85B8-A522-FB3B59477858}"/>
              </a:ext>
            </a:extLst>
          </p:cNvPr>
          <p:cNvSpPr txBox="1"/>
          <p:nvPr/>
        </p:nvSpPr>
        <p:spPr>
          <a:xfrm>
            <a:off x="762000" y="1676400"/>
            <a:ext cx="10134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Afterwards, we constructed the past and future Hankel block matrices for input and output signals, as explained in the algorithm.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6D69DCD5-EA63-9A63-070D-FC81A1A26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17696"/>
            <a:ext cx="8834201" cy="286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17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FD5B2-8228-D7EE-D5C3-A7A8F9E5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6C340061-9980-936A-65E8-86089351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9601200" cy="609600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SSI step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3A31A6A7-836C-FA6D-75B0-A802BE6C0D8E}"/>
                  </a:ext>
                </a:extLst>
              </p:cNvPr>
              <p:cNvSpPr txBox="1"/>
              <p:nvPr/>
            </p:nvSpPr>
            <p:spPr>
              <a:xfrm>
                <a:off x="685800" y="1092202"/>
                <a:ext cx="10134600" cy="859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As previously illustrated, we used past Hankel matrices to build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And then compute QR decomposition to obtain L.</a:t>
                </a: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3A31A6A7-836C-FA6D-75B0-A802BE6C0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092202"/>
                <a:ext cx="10134600" cy="859531"/>
              </a:xfrm>
              <a:prstGeom prst="rect">
                <a:avLst/>
              </a:prstGeom>
              <a:blipFill>
                <a:blip r:embed="rId2"/>
                <a:stretch>
                  <a:fillRect l="-963" t="-5674" b="-1560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uppo 1">
            <a:extLst>
              <a:ext uri="{FF2B5EF4-FFF2-40B4-BE49-F238E27FC236}">
                <a16:creationId xmlns:a16="http://schemas.microsoft.com/office/drawing/2014/main" id="{94BB8531-B680-3AA0-CADA-62B36B8E55D0}"/>
              </a:ext>
            </a:extLst>
          </p:cNvPr>
          <p:cNvGrpSpPr/>
          <p:nvPr/>
        </p:nvGrpSpPr>
        <p:grpSpPr>
          <a:xfrm>
            <a:off x="838200" y="2057400"/>
            <a:ext cx="8077200" cy="3733800"/>
            <a:chOff x="838200" y="2737390"/>
            <a:chExt cx="7064352" cy="3053810"/>
          </a:xfrm>
        </p:grpSpPr>
        <p:pic>
          <p:nvPicPr>
            <p:cNvPr id="7" name="Immagine 6" descr="Immagine che contiene testo, schermata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0D4DD9FF-BB92-1651-1C65-9887B3BE0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3598630"/>
              <a:ext cx="7064352" cy="2192570"/>
            </a:xfrm>
            <a:prstGeom prst="rect">
              <a:avLst/>
            </a:prstGeom>
          </p:spPr>
        </p:pic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2417FEA0-CDB6-4D3D-D73C-1FFB76EC7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2737390"/>
              <a:ext cx="7064352" cy="861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3778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1491-692F-7CC0-D705-F015AFF5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4D752CDB-3887-9887-AE35-DA4C5802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Estimation of system order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CC6AA8DD-957B-A3D1-1A30-EE9E382B19EA}"/>
                  </a:ext>
                </a:extLst>
              </p:cNvPr>
              <p:cNvSpPr txBox="1"/>
              <p:nvPr/>
            </p:nvSpPr>
            <p:spPr>
              <a:xfrm>
                <a:off x="762000" y="1676400"/>
                <a:ext cx="10134600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We can estimate the system’s order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after applying SV decomposition on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, by looking at the singular values of matrix S</a:t>
                </a:r>
                <a:r>
                  <a:rPr lang="en-GB" sz="2400" baseline="-250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We decided to use a </a:t>
                </a:r>
                <a:r>
                  <a:rPr lang="en-GB" sz="2400" noProof="0" dirty="0"/>
                  <a:t>cumulative energy criterion to evaluate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automatically, by picking </a:t>
                </a:r>
                <a:r>
                  <a:rPr lang="en-GB" sz="2400" noProof="0" dirty="0"/>
                  <a:t>the smallest integer such that the cumulative sum of the squared singular values accounts for at least 95% of the total energy.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CC6AA8DD-957B-A3D1-1A30-EE9E382B1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76400"/>
                <a:ext cx="10134600" cy="4524315"/>
              </a:xfrm>
              <a:prstGeom prst="rect">
                <a:avLst/>
              </a:prstGeom>
              <a:blipFill>
                <a:blip r:embed="rId2"/>
                <a:stretch>
                  <a:fillRect l="-902" t="-943" r="-348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8FA0D3FF-DD37-DAFF-95E9-1631B0AB5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810000"/>
            <a:ext cx="4800600" cy="1662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539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2E082-FFFA-7779-6229-78A6BF9D2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A1519D1F-263B-AF81-752D-F61F7DE0F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Plotting the prediction performance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58E9DF5-5D4E-4C05-75D5-71047A6C2AD9}"/>
              </a:ext>
            </a:extLst>
          </p:cNvPr>
          <p:cNvSpPr txBox="1"/>
          <p:nvPr/>
        </p:nvSpPr>
        <p:spPr>
          <a:xfrm>
            <a:off x="735496" y="1380838"/>
            <a:ext cx="10134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predicted output can be calculated as:</a:t>
            </a: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We compared it to the output generated by the actual system.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EA7DC3D-1D44-2762-5C2E-62109223B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600200"/>
            <a:ext cx="3773714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899D9F99-7920-C0E4-D436-367C351DF7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59605"/>
            <a:ext cx="5615762" cy="2508703"/>
          </a:xfrm>
          <a:prstGeom prst="rect">
            <a:avLst/>
          </a:prstGeom>
        </p:spPr>
      </p:pic>
      <p:pic>
        <p:nvPicPr>
          <p:cNvPr id="6" name="Immagine 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621CCC16-6DC9-A299-C303-99D710CBEB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2819400"/>
            <a:ext cx="5589082" cy="250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535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1A642-3A1F-D288-0DA9-81F70467C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74A1493D-34D2-78D7-2A34-6B3505047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MPC implementation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B203052-5DF3-BA5B-7F15-A1788A68D432}"/>
              </a:ext>
            </a:extLst>
          </p:cNvPr>
          <p:cNvSpPr txBox="1"/>
          <p:nvPr/>
        </p:nvSpPr>
        <p:spPr>
          <a:xfrm>
            <a:off x="762000" y="1676400"/>
            <a:ext cx="3429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second half of the algorithm, the one executing control on the system, had to be done on a running simulation instead of “offline” like with SSI.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0AD033A2-2807-739F-BB10-8AE63330F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770" y="1752600"/>
            <a:ext cx="7005230" cy="391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734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EE3FC-9749-3422-6946-63EB535C9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019A4EA5-FC53-2DBA-69F9-463BC3EA1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Recursive 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74AFCE4-258D-25C7-3445-1E0120CA47CE}"/>
                  </a:ext>
                </a:extLst>
              </p:cNvPr>
              <p:cNvSpPr txBox="1"/>
              <p:nvPr/>
            </p:nvSpPr>
            <p:spPr>
              <a:xfrm>
                <a:off x="762000" y="1676400"/>
                <a:ext cx="10134600" cy="3444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During simulation, the operation for each timestep starting from k=M+1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define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vector using the past registered M inputs and “registered” outputs;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</a:t>
                </a:r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vector;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 the next controlled input;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:endParaRPr lang="en-GB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</a:t>
                </a:r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se this input to compute the next output and state, using the system’s equations.</a:t>
                </a: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74AFCE4-258D-25C7-3445-1E0120CA4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76400"/>
                <a:ext cx="10134600" cy="3444854"/>
              </a:xfrm>
              <a:prstGeom prst="rect">
                <a:avLst/>
              </a:prstGeom>
              <a:blipFill>
                <a:blip r:embed="rId2"/>
                <a:stretch>
                  <a:fillRect l="-902" t="-1239" r="-842" b="-318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36363AAB-B95B-5658-560B-C0BB7F07C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533" y="3657600"/>
            <a:ext cx="6388677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627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CDE78-E3DF-DC7C-2249-65329E3FC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EBF61EB8-1A21-8F5E-AC08-1C89431B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basic SPC control results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C29A2C5-B1AA-1725-63D1-4B6C67E620B6}"/>
              </a:ext>
            </a:extLst>
          </p:cNvPr>
          <p:cNvSpPr txBox="1"/>
          <p:nvPr/>
        </p:nvSpPr>
        <p:spPr>
          <a:xfrm>
            <a:off x="762000" y="1752600"/>
            <a:ext cx="10134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Using a step reference signal: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We can see that the tracking is not very accurate because it is biased</a:t>
            </a: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3DEEBD34-F20D-8AB0-EFF8-78A715645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933" y="2547196"/>
            <a:ext cx="5471806" cy="2405804"/>
          </a:xfrm>
          <a:prstGeom prst="rect">
            <a:avLst/>
          </a:prstGeom>
        </p:spPr>
      </p:pic>
      <p:pic>
        <p:nvPicPr>
          <p:cNvPr id="8" name="Immagine 7" descr="Immagine che contiene linea, testo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544354DD-F953-E77D-19D6-8135CE89B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61" y="2552558"/>
            <a:ext cx="5234687" cy="232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2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DC1CE-AB02-1785-3132-DFC367BD9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F60A5AAE-3A1C-3791-18BF-495AB1F82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basic SPC control results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3AC2B4C-E108-6A4E-98AC-ECA774B3A84F}"/>
              </a:ext>
            </a:extLst>
          </p:cNvPr>
          <p:cNvSpPr txBox="1"/>
          <p:nvPr/>
        </p:nvSpPr>
        <p:spPr>
          <a:xfrm>
            <a:off x="761999" y="1534417"/>
            <a:ext cx="106679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Using a sine reference signal (r</a:t>
            </a:r>
            <a:r>
              <a:rPr lang="en-GB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has a frequence double of r</a:t>
            </a:r>
            <a:r>
              <a:rPr lang="en-GB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We can see that the tracking is not very accurate, it’s still biased, one input doesn’t participate to the output control, inputs and output are correlated.</a:t>
            </a: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magine 2" descr="Immagine che contiene linea, Diagramm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CECA2D05-8EA9-1C84-37E0-A671AC0CA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1" y="2067339"/>
            <a:ext cx="5334000" cy="2276965"/>
          </a:xfrm>
          <a:prstGeom prst="rect">
            <a:avLst/>
          </a:prstGeom>
        </p:spPr>
      </p:pic>
      <p:pic>
        <p:nvPicPr>
          <p:cNvPr id="7" name="Immagine 6" descr="Immagine che contiene linea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EBADEB84-039C-B405-AE7C-6B98BB0F8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2"/>
          <a:stretch>
            <a:fillRect/>
          </a:stretch>
        </p:blipFill>
        <p:spPr>
          <a:xfrm>
            <a:off x="6248400" y="2037622"/>
            <a:ext cx="5334000" cy="238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744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5258D-B0F3-7C5C-C7E8-B789F5442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3409A675-D430-454C-FD8B-FD5946162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2108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improving on the proposed solution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B2BAB95-29C6-9689-EB54-F490915BB32A}"/>
              </a:ext>
            </a:extLst>
          </p:cNvPr>
          <p:cNvSpPr txBox="1"/>
          <p:nvPr/>
        </p:nvSpPr>
        <p:spPr>
          <a:xfrm>
            <a:off x="762000" y="1676400"/>
            <a:ext cx="10820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Apparently, the SPC algorithm as presented in the paper does not result in a precise tracking of the selected reference signal.</a:t>
            </a:r>
          </a:p>
          <a:p>
            <a:pPr algn="just"/>
            <a:endParaRPr lang="en-US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/>
              <a:t>We set out to address this issue and identified a more recent paper by </a:t>
            </a:r>
            <a:r>
              <a:rPr lang="en-US" sz="2400" dirty="0" err="1"/>
              <a:t>Pannocchia</a:t>
            </a:r>
            <a:r>
              <a:rPr lang="en-US" sz="2400" dirty="0"/>
              <a:t> and Rawlings, </a:t>
            </a:r>
            <a:r>
              <a:rPr lang="en-US" sz="2400" i="1" dirty="0"/>
              <a:t>“Disturbance models for offset-free model predictive control”</a:t>
            </a:r>
            <a:r>
              <a:rPr lang="en-US" sz="2400" dirty="0"/>
              <a:t> (AIChE Journal, 2003), as well as its update, </a:t>
            </a:r>
            <a:r>
              <a:rPr lang="en-US" sz="2400" i="1" dirty="0"/>
              <a:t>“Offset-Free MPC Explained: Novelties, Subtleties, and Applications”</a:t>
            </a:r>
            <a:r>
              <a:rPr lang="en-US" sz="2400" dirty="0"/>
              <a:t> by </a:t>
            </a:r>
            <a:r>
              <a:rPr lang="en-US" sz="2400" dirty="0" err="1"/>
              <a:t>Pannocchia</a:t>
            </a:r>
            <a:r>
              <a:rPr lang="en-US" sz="2400" dirty="0"/>
              <a:t>, </a:t>
            </a:r>
            <a:r>
              <a:rPr lang="en-US" sz="2400" dirty="0" err="1"/>
              <a:t>Gabiccini</a:t>
            </a:r>
            <a:r>
              <a:rPr lang="en-US" sz="2400" dirty="0"/>
              <a:t>, and </a:t>
            </a:r>
            <a:r>
              <a:rPr lang="en-US" sz="2400" dirty="0" err="1"/>
              <a:t>Artoni</a:t>
            </a:r>
            <a:r>
              <a:rPr lang="en-US" sz="2400" dirty="0"/>
              <a:t> (2015). These works propose an MPC approach that achieves offset-free performance.</a:t>
            </a:r>
          </a:p>
          <a:p>
            <a:pPr algn="just"/>
            <a:endParaRPr lang="en-US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It does so by introducing </a:t>
            </a:r>
            <a:r>
              <a:rPr lang="en-US" sz="2400" noProof="0" dirty="0"/>
              <a:t>a feedforward term, allowing exact reference tracking without altering the underlying predictive structure.</a:t>
            </a:r>
          </a:p>
        </p:txBody>
      </p:sp>
    </p:spTree>
    <p:extLst>
      <p:ext uri="{BB962C8B-B14F-4D97-AF65-F5344CB8AC3E}">
        <p14:creationId xmlns:p14="http://schemas.microsoft.com/office/powerpoint/2010/main" val="3787666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59997-2181-1C00-1946-ED8C84AA3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A52807AF-176C-AD2A-D665-93D4038E1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2108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implementation of offset- free MPC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995C1C6-DE83-831F-34A2-13988A896646}"/>
                  </a:ext>
                </a:extLst>
              </p:cNvPr>
              <p:cNvSpPr txBox="1"/>
              <p:nvPr/>
            </p:nvSpPr>
            <p:spPr>
              <a:xfrm>
                <a:off x="762000" y="1676400"/>
                <a:ext cx="10399210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We can rewrite the steady-state equations (where x(t+1)=x(t)) as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Where</a:t>
                </a: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</a:t>
                </a:r>
                <a:r>
                  <a:rPr lang="en-US" sz="2400" noProof="0" dirty="0"/>
                  <a:t>steady-state mappings.</a:t>
                </a:r>
                <a:endParaRPr lang="en-US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2400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995C1C6-DE83-831F-34A2-13988A896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76400"/>
                <a:ext cx="10399210" cy="4524315"/>
              </a:xfrm>
              <a:prstGeom prst="rect">
                <a:avLst/>
              </a:prstGeom>
              <a:blipFill>
                <a:blip r:embed="rId2"/>
                <a:stretch>
                  <a:fillRect l="-879" t="-9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8DFA0665-31B3-1F15-90E8-6739F5D23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2458508"/>
            <a:ext cx="1777999" cy="63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1E0B00A1-3CF3-6422-D992-4620240D5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97" y="2399291"/>
            <a:ext cx="8640000" cy="828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E8BE22A-CA1C-A8AA-4175-CBC9FD6C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351" y="3505201"/>
            <a:ext cx="2006641" cy="39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24BBC78B-5F5A-AC9E-6DD8-9F3FFD1F1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076" y="4044725"/>
            <a:ext cx="6480000" cy="126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127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4AD16-8A15-8A22-B11C-F4E2A3231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7FF42376-D3E7-3274-A1F2-0D3F470D7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325" y="304800"/>
            <a:ext cx="102108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dirty="0">
                <a:latin typeface="Arial Black" panose="020B0A04020102020204" pitchFamily="34" charset="0"/>
              </a:rPr>
              <a:t>implementation of offset- free MPC</a:t>
            </a:r>
            <a:endParaRPr lang="en-GB" noProof="0" dirty="0">
              <a:latin typeface="Arial Black" panose="020B0A04020102020204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A5965C0-627E-5C63-B066-405971830B85}"/>
              </a:ext>
            </a:extLst>
          </p:cNvPr>
          <p:cNvSpPr txBox="1"/>
          <p:nvPr/>
        </p:nvSpPr>
        <p:spPr>
          <a:xfrm>
            <a:off x="685800" y="1524000"/>
            <a:ext cx="10820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In addition to the steady-state feedforward correction, our implementation also includes an optional integral correction of the tracking error. </a:t>
            </a:r>
          </a:p>
          <a:p>
            <a:pPr algn="just"/>
            <a:r>
              <a:rPr lang="en-US" sz="2400" dirty="0"/>
              <a:t>This mechanism accumulates the output–reference mismatch over time and injects the resulting integral term into the predictive error vector.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Both corrections can be enabled or disabled without modifying the core SPC structure, allowing a direct comparison between purely predictive and enhanced tracking configurations.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During the SSI procedure, the code verifies the triangularity of </a:t>
            </a:r>
            <a:r>
              <a:rPr lang="en-US" sz="2400" b="1" dirty="0"/>
              <a:t>R</a:t>
            </a:r>
            <a:r>
              <a:rPr lang="en-US" sz="2400" dirty="0"/>
              <a:t>, the orthogonality of </a:t>
            </a:r>
            <a:r>
              <a:rPr lang="en-US" sz="2400" b="1" dirty="0"/>
              <a:t>Q</a:t>
            </a:r>
            <a:r>
              <a:rPr lang="en-US" sz="2400" dirty="0"/>
              <a:t>, and the consistency of </a:t>
            </a:r>
            <a:r>
              <a:rPr lang="en-US" sz="2400" b="1" dirty="0"/>
              <a:t>L</a:t>
            </a:r>
            <a:r>
              <a:rPr lang="en-US" sz="2400" dirty="0"/>
              <a:t> computed by SSI by checking its agreement with the solution of the least-squares (LS) problem.</a:t>
            </a:r>
          </a:p>
        </p:txBody>
      </p:sp>
    </p:spTree>
    <p:extLst>
      <p:ext uri="{BB962C8B-B14F-4D97-AF65-F5344CB8AC3E}">
        <p14:creationId xmlns:p14="http://schemas.microsoft.com/office/powerpoint/2010/main" val="2367912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DEC8A-4E1B-8465-8BE2-A55C0FDD0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9567439E-11BB-BB6F-FF87-4E3609126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2108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improved SPC control results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7C86FFF-281D-7ADF-5054-D48B4D303F79}"/>
              </a:ext>
            </a:extLst>
          </p:cNvPr>
          <p:cNvSpPr txBox="1"/>
          <p:nvPr/>
        </p:nvSpPr>
        <p:spPr>
          <a:xfrm>
            <a:off x="762000" y="1683603"/>
            <a:ext cx="10134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Using a step reference signals: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tracking is almost perfect, only disturbed by stochastic noise.</a:t>
            </a:r>
          </a:p>
        </p:txBody>
      </p:sp>
      <p:pic>
        <p:nvPicPr>
          <p:cNvPr id="3" name="Immagine 2" descr="Immagine che contiene linea, Diagramma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2D3BDCFF-D4BD-141E-F866-A92DB4476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2289210"/>
            <a:ext cx="5562600" cy="2493953"/>
          </a:xfrm>
          <a:prstGeom prst="rect">
            <a:avLst/>
          </a:prstGeom>
        </p:spPr>
      </p:pic>
      <p:pic>
        <p:nvPicPr>
          <p:cNvPr id="6" name="Immagine 5" descr="Immagine che contiene linea, testo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B1463022-4DBB-6D95-40A7-33491BED0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438400"/>
            <a:ext cx="5334000" cy="224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0797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17CF-CDD7-81A6-5C0C-43E43637B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34C69089-9E32-82AC-0B96-B3B0EF281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2108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improved SPC control results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C0132A7-3185-3878-7CA4-EA9F8126596B}"/>
              </a:ext>
            </a:extLst>
          </p:cNvPr>
          <p:cNvSpPr txBox="1"/>
          <p:nvPr/>
        </p:nvSpPr>
        <p:spPr>
          <a:xfrm>
            <a:off x="762000" y="1676400"/>
            <a:ext cx="10134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Using a sine reference signals: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tracking is almost perfect, only disturbed by stochastic noise.</a:t>
            </a:r>
          </a:p>
        </p:txBody>
      </p:sp>
      <p:pic>
        <p:nvPicPr>
          <p:cNvPr id="3" name="Immagine 2" descr="Immagine che contiene line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2346FF6E-621D-0A0D-E9E1-2EB62F332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1" y="2362201"/>
            <a:ext cx="5205129" cy="2373908"/>
          </a:xfrm>
          <a:prstGeom prst="rect">
            <a:avLst/>
          </a:prstGeom>
        </p:spPr>
      </p:pic>
      <p:pic>
        <p:nvPicPr>
          <p:cNvPr id="6" name="Immagine 5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148E3EBB-CAD0-1CB1-0513-CB5D2BDCD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1" y="2362201"/>
            <a:ext cx="5105400" cy="222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729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FD052-A6E4-4EA3-40C9-0D7F9ED82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14853C74-3D76-BB45-5EBD-2082D50CC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Final considerations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2E4F1D8-6E3E-1635-DEBC-9C2A6FBDE9CC}"/>
              </a:ext>
            </a:extLst>
          </p:cNvPr>
          <p:cNvSpPr txBox="1"/>
          <p:nvPr/>
        </p:nvSpPr>
        <p:spPr>
          <a:xfrm>
            <a:off x="756698" y="1219200"/>
            <a:ext cx="103685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SPC method manages to blend two very useful algorithms into one without resulting too complex; as presented in the original paper, this algorithm is able to estimate the system parameters very precisely, but struggles in the tracking phase.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Fortunately, subsequent research has found ways to improve this aspect, resulting in a robust and straightforward approach.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i="1" dirty="0"/>
              <a:t>Moreover, although the original paper does not explicitly address residual generation, the same underlying idea could be exploited to develop a model-based fault detection scheme, where deviations between predicted and measured outputs are used as indicators of disturbances or faults.</a:t>
            </a:r>
            <a:endParaRPr lang="en-GB" sz="2400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6194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D7F3E-7380-580D-AD82-0B6E44EB4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C8AA33EA-454C-BD75-0992-D6F9E663A242}"/>
              </a:ext>
            </a:extLst>
          </p:cNvPr>
          <p:cNvSpPr/>
          <p:nvPr/>
        </p:nvSpPr>
        <p:spPr>
          <a:xfrm>
            <a:off x="176792" y="1063580"/>
            <a:ext cx="11786607" cy="4651420"/>
          </a:xfrm>
          <a:prstGeom prst="rect">
            <a:avLst/>
          </a:prstGeom>
          <a:solidFill>
            <a:schemeClr val="bg1">
              <a:lumMod val="65000"/>
              <a:alpha val="50196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2800" b="1" noProof="0" dirty="0">
                <a:solidFill>
                  <a:schemeClr val="tx1"/>
                </a:solidFill>
                <a:latin typeface="Arial Black" panose="020B0A04020102020204" pitchFamily="34" charset="0"/>
              </a:rPr>
              <a:t>SSI + Fault Detection Model Based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Fumetto: rettangolo 10">
                <a:extLst>
                  <a:ext uri="{FF2B5EF4-FFF2-40B4-BE49-F238E27FC236}">
                    <a16:creationId xmlns:a16="http://schemas.microsoft.com/office/drawing/2014/main" id="{E12DD689-FDD9-3C9D-7A04-1E2866E24D25}"/>
                  </a:ext>
                </a:extLst>
              </p:cNvPr>
              <p:cNvSpPr/>
              <p:nvPr/>
            </p:nvSpPr>
            <p:spPr>
              <a:xfrm>
                <a:off x="515813" y="1600200"/>
                <a:ext cx="5185573" cy="53860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400" noProof="0" dirty="0">
                    <a:solidFill>
                      <a:sysClr val="windowText" lastClr="000000"/>
                    </a:solidFill>
                    <a:ea typeface="+mn-ea"/>
                    <a:cs typeface="+mn-cs"/>
                  </a:rPr>
                  <a:t>Data Block Hankel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𝑈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</m:oMath>
                </a14:m>
                <a:endParaRPr lang="en-GB" sz="2400" b="0" noProof="0" dirty="0">
                  <a:solidFill>
                    <a:sysClr val="windowText" lastClr="00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Fumetto: rettangolo 10">
                <a:extLst>
                  <a:ext uri="{FF2B5EF4-FFF2-40B4-BE49-F238E27FC236}">
                    <a16:creationId xmlns:a16="http://schemas.microsoft.com/office/drawing/2014/main" id="{2191F0F2-1292-4F6F-2296-37613DBAED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13" y="1600200"/>
                <a:ext cx="5185573" cy="53860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blipFill>
                <a:blip r:embed="rId2"/>
                <a:stretch>
                  <a:fillRect l="-1639" t="-62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umetto: rettangolo 12">
            <a:extLst>
              <a:ext uri="{FF2B5EF4-FFF2-40B4-BE49-F238E27FC236}">
                <a16:creationId xmlns:a16="http://schemas.microsoft.com/office/drawing/2014/main" id="{B55528F7-217B-39A2-BCCF-C1D2A61AFD2E}"/>
              </a:ext>
            </a:extLst>
          </p:cNvPr>
          <p:cNvSpPr/>
          <p:nvPr/>
        </p:nvSpPr>
        <p:spPr>
          <a:xfrm>
            <a:off x="515812" y="2590800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QR and SV decomposition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sp>
        <p:nvSpPr>
          <p:cNvPr id="17" name="Fumetto: rettangolo 16">
            <a:extLst>
              <a:ext uri="{FF2B5EF4-FFF2-40B4-BE49-F238E27FC236}">
                <a16:creationId xmlns:a16="http://schemas.microsoft.com/office/drawing/2014/main" id="{60F6FE1D-CBE4-637B-EA1D-BAE7A04C1F69}"/>
              </a:ext>
            </a:extLst>
          </p:cNvPr>
          <p:cNvSpPr/>
          <p:nvPr/>
        </p:nvSpPr>
        <p:spPr>
          <a:xfrm>
            <a:off x="6459412" y="3505200"/>
            <a:ext cx="5185573" cy="685801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Model-based predictor and online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fault-free output estimation</a:t>
            </a:r>
            <a:endParaRPr lang="en-GB" sz="2400" b="0" noProof="0" dirty="0">
              <a:solidFill>
                <a:schemeClr val="tx1"/>
              </a:solidFill>
              <a:ea typeface="+mn-ea"/>
              <a:cs typeface="+mn-cs"/>
            </a:endParaRPr>
          </a:p>
        </p:txBody>
      </p:sp>
      <p:sp>
        <p:nvSpPr>
          <p:cNvPr id="18" name="Fumetto: rettangolo 17">
            <a:extLst>
              <a:ext uri="{FF2B5EF4-FFF2-40B4-BE49-F238E27FC236}">
                <a16:creationId xmlns:a16="http://schemas.microsoft.com/office/drawing/2014/main" id="{439F24DF-CC54-A760-5279-DB4F083FB355}"/>
              </a:ext>
            </a:extLst>
          </p:cNvPr>
          <p:cNvSpPr/>
          <p:nvPr/>
        </p:nvSpPr>
        <p:spPr>
          <a:xfrm>
            <a:off x="5943601" y="4747687"/>
            <a:ext cx="5701384" cy="510114"/>
          </a:xfrm>
          <a:prstGeom prst="wedgeRectCallout">
            <a:avLst>
              <a:gd name="adj1" fmla="val -19446"/>
              <a:gd name="adj2" fmla="val 134708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Residual Calculation and fault-identification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Fumetto: rettangolo 1">
                <a:extLst>
                  <a:ext uri="{FF2B5EF4-FFF2-40B4-BE49-F238E27FC236}">
                    <a16:creationId xmlns:a16="http://schemas.microsoft.com/office/drawing/2014/main" id="{824DA96A-3F13-3C84-8A1F-52A84CF4B0DE}"/>
                  </a:ext>
                </a:extLst>
              </p:cNvPr>
              <p:cNvSpPr/>
              <p:nvPr/>
            </p:nvSpPr>
            <p:spPr>
              <a:xfrm>
                <a:off x="515812" y="3582486"/>
                <a:ext cx="5185573" cy="538609"/>
              </a:xfrm>
              <a:prstGeom prst="wedgeRectCallout">
                <a:avLst>
                  <a:gd name="adj1" fmla="val 64540"/>
                  <a:gd name="adj2" fmla="val 4836"/>
                </a:avLst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400" noProof="0" dirty="0">
                    <a:solidFill>
                      <a:sysClr val="windowText" lastClr="000000"/>
                    </a:solidFill>
                    <a:ea typeface="+mn-ea"/>
                    <a:cs typeface="+mn-cs"/>
                  </a:rPr>
                  <a:t>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sub>
                    </m:sSub>
                  </m:oMath>
                </a14:m>
                <a:endParaRPr lang="en-GB" sz="2400" b="0" noProof="0" dirty="0">
                  <a:solidFill>
                    <a:sysClr val="windowText" lastClr="00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Fumetto: rettangolo 1">
                <a:extLst>
                  <a:ext uri="{FF2B5EF4-FFF2-40B4-BE49-F238E27FC236}">
                    <a16:creationId xmlns:a16="http://schemas.microsoft.com/office/drawing/2014/main" id="{D189872F-CEB3-8E6B-A8A6-A8B8BC7000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12" y="3582486"/>
                <a:ext cx="5185573" cy="538609"/>
              </a:xfrm>
              <a:prstGeom prst="wedgeRectCallout">
                <a:avLst>
                  <a:gd name="adj1" fmla="val 64540"/>
                  <a:gd name="adj2" fmla="val 4836"/>
                </a:avLst>
              </a:prstGeom>
              <a:blipFill>
                <a:blip r:embed="rId3"/>
                <a:stretch>
                  <a:fillRect l="-1431" b="-15217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olo 9">
            <a:extLst>
              <a:ext uri="{FF2B5EF4-FFF2-40B4-BE49-F238E27FC236}">
                <a16:creationId xmlns:a16="http://schemas.microsoft.com/office/drawing/2014/main" id="{2906983F-C231-CBE2-21A9-50BB7D5B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439400" cy="533401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The same idea…</a:t>
            </a:r>
          </a:p>
        </p:txBody>
      </p:sp>
    </p:spTree>
    <p:extLst>
      <p:ext uri="{BB962C8B-B14F-4D97-AF65-F5344CB8AC3E}">
        <p14:creationId xmlns:p14="http://schemas.microsoft.com/office/powerpoint/2010/main" val="15475576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245ED-1D40-F496-C51B-2D39011A2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3C75EE8E-1294-A10A-20B6-2D0A4BE2C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538609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We are not reinventing the wheel</a:t>
            </a:r>
            <a:endParaRPr lang="en-GB" noProof="0" dirty="0">
              <a:latin typeface="Arial Black" panose="020B0A0402010202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3A80C3D-C954-1B2E-1016-17F5C47F85DD}"/>
              </a:ext>
            </a:extLst>
          </p:cNvPr>
          <p:cNvSpPr txBox="1"/>
          <p:nvPr/>
        </p:nvSpPr>
        <p:spPr>
          <a:xfrm>
            <a:off x="756698" y="1219200"/>
            <a:ext cx="103685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The 2004 paper </a:t>
            </a:r>
            <a:r>
              <a:rPr lang="en-US" sz="2400" i="1" dirty="0"/>
              <a:t>“Subspace Method for Sensor Fault Detection and Isolation – Application to Grinding Circuit Monitoring”</a:t>
            </a:r>
            <a:r>
              <a:rPr lang="en-US" sz="2400" dirty="0"/>
              <a:t> by Komi </a:t>
            </a:r>
            <a:r>
              <a:rPr lang="en-US" sz="2400" dirty="0" err="1"/>
              <a:t>Midzodzi</a:t>
            </a:r>
            <a:r>
              <a:rPr lang="en-US" sz="2400" dirty="0"/>
              <a:t> </a:t>
            </a:r>
            <a:r>
              <a:rPr lang="en-US" sz="2400" dirty="0" err="1"/>
              <a:t>Pekpe</a:t>
            </a:r>
            <a:r>
              <a:rPr lang="en-US" sz="2400" dirty="0"/>
              <a:t>, Gilles </a:t>
            </a:r>
            <a:r>
              <a:rPr lang="en-US" sz="2400" dirty="0" err="1"/>
              <a:t>Mourot</a:t>
            </a:r>
            <a:r>
              <a:rPr lang="en-US" sz="2400" dirty="0"/>
              <a:t>, and José Ragot is the first article we found in our literature search that investigates this idea.</a:t>
            </a:r>
            <a:endParaRPr lang="en-GB" sz="2400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035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E75B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1999</Words>
  <Application>Microsoft Office PowerPoint</Application>
  <PresentationFormat>Widescreen</PresentationFormat>
  <Paragraphs>263</Paragraphs>
  <Slides>32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32</vt:i4>
      </vt:variant>
    </vt:vector>
  </HeadingPairs>
  <TitlesOfParts>
    <vt:vector size="39" baseType="lpstr">
      <vt:lpstr>Aptos</vt:lpstr>
      <vt:lpstr>Arial</vt:lpstr>
      <vt:lpstr>Arial Black</vt:lpstr>
      <vt:lpstr>Cambria Math</vt:lpstr>
      <vt:lpstr>Franklin Gothic Medium</vt:lpstr>
      <vt:lpstr>Trebuchet MS</vt:lpstr>
      <vt:lpstr>Office Theme</vt:lpstr>
      <vt:lpstr>SPC: Subspace Predictive Control  Presentation for the course Adaptive Learning, Estimation and Supervision of dynamical systems (ALES)</vt:lpstr>
      <vt:lpstr>Selected paper</vt:lpstr>
      <vt:lpstr>The References </vt:lpstr>
      <vt:lpstr>The Idea: from two separated frameworks…</vt:lpstr>
      <vt:lpstr>The Idea: … to a unified framework</vt:lpstr>
      <vt:lpstr>Problem setting –  context of application</vt:lpstr>
      <vt:lpstr>System model</vt:lpstr>
      <vt:lpstr>Proposed solution –   Block Hankel matrices definition</vt:lpstr>
      <vt:lpstr>Proposed solution –   Defining the predictor and LS problem</vt:lpstr>
      <vt:lpstr>Proposed solution – Subspace Step 1</vt:lpstr>
      <vt:lpstr>Proposed solution – Subspace Step 2</vt:lpstr>
      <vt:lpstr>Proposed solution – MPC problem</vt:lpstr>
      <vt:lpstr>Proposed solution – Principle of MPC</vt:lpstr>
      <vt:lpstr>Proposed solution – Control step 1</vt:lpstr>
      <vt:lpstr>Proposed solution – Control step 2</vt:lpstr>
      <vt:lpstr>Practical implementation –   System setting</vt:lpstr>
      <vt:lpstr>Practical implementation –   Hankel Block matrices</vt:lpstr>
      <vt:lpstr>Practical implementation – SSI step 1</vt:lpstr>
      <vt:lpstr>Practical implementation –   Estimation of system order</vt:lpstr>
      <vt:lpstr>Practical implementation –   Plotting the prediction performance</vt:lpstr>
      <vt:lpstr>Practical implementation –   MPC implementation</vt:lpstr>
      <vt:lpstr>Practical implementation –   Recursive step</vt:lpstr>
      <vt:lpstr>Practical implementation –   basic SPC control results</vt:lpstr>
      <vt:lpstr>Practical implementation –   basic SPC control results</vt:lpstr>
      <vt:lpstr>Practical implementation –   improving on the proposed solution</vt:lpstr>
      <vt:lpstr>Practical implementation –   implementation of offset- free MPC</vt:lpstr>
      <vt:lpstr>Practical implementation –   implementation of offset- free MPC</vt:lpstr>
      <vt:lpstr>Practical implementation –   improved SPC control results</vt:lpstr>
      <vt:lpstr>Practical implementation –   improved SPC control results</vt:lpstr>
      <vt:lpstr>Final considerations</vt:lpstr>
      <vt:lpstr>The same idea…</vt:lpstr>
      <vt:lpstr>We are not reinventing the wheel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Gabriele Mazzoleni</dc:creator>
  <cp:lastModifiedBy>GABRIELE MAZZOLENI</cp:lastModifiedBy>
  <cp:revision>219</cp:revision>
  <dcterms:created xsi:type="dcterms:W3CDTF">2025-06-12T18:24:46Z</dcterms:created>
  <dcterms:modified xsi:type="dcterms:W3CDTF">2026-01-08T17:53:37Z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LastSaved">
    <vt:filetime>2025-06-12T00:00:00Z</vt:filetime>
  </property>
  <property fmtid="{D5CDD505-2E9C-101B-9397-08002B2CF9AE}" pid="4" name="Producer">
    <vt:lpwstr>macOS Versione 15.3.1 (Build 24D70) Quartz PDFContext</vt:lpwstr>
  </property>
</Properties>
</file>