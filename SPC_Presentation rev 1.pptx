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336" r:id="rId3"/>
    <p:sldId id="337" r:id="rId4"/>
    <p:sldId id="338" r:id="rId5"/>
    <p:sldId id="341" r:id="rId6"/>
    <p:sldId id="343" r:id="rId7"/>
    <p:sldId id="344" r:id="rId8"/>
    <p:sldId id="342" r:id="rId9"/>
    <p:sldId id="345" r:id="rId10"/>
    <p:sldId id="350" r:id="rId11"/>
    <p:sldId id="349" r:id="rId12"/>
    <p:sldId id="346" r:id="rId13"/>
    <p:sldId id="339" r:id="rId14"/>
    <p:sldId id="340" r:id="rId1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84" autoAdjust="0"/>
    <p:restoredTop sz="94660"/>
  </p:normalViewPr>
  <p:slideViewPr>
    <p:cSldViewPr>
      <p:cViewPr varScale="1">
        <p:scale>
          <a:sx n="80" d="100"/>
          <a:sy n="80" d="100"/>
        </p:scale>
        <p:origin x="1212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 dirty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CF3C78-BFF9-4137-8833-13E3D0B09D8B}" type="datetimeFigureOut">
              <a:rPr lang="it-IT" smtClean="0"/>
              <a:t>28/12/2025</a:t>
            </a:fld>
            <a:endParaRPr lang="it-IT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 dirty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18F9A5-25D9-4BE4-92E4-0A5AF102D313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69277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18F9A5-25D9-4BE4-92E4-0A5AF102D313}" type="slidenum">
              <a:rPr lang="it-IT" smtClean="0"/>
              <a:t>9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523833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8E37A-E5AE-3B54-30F2-2CD2A87C0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C917A1C-85FF-0465-0699-015D7F560C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983BAA2-E359-E754-7AC0-F926400E73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3C5438E-F049-C5EF-C495-53D6E6584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18F9A5-25D9-4BE4-92E4-0A5AF102D313}" type="slidenum">
              <a:rPr lang="it-IT" smtClean="0"/>
              <a:t>10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232877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18F9A5-25D9-4BE4-92E4-0A5AF102D313}" type="slidenum">
              <a:rPr lang="it-IT" smtClean="0"/>
              <a:t>11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8079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12/28/2025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12/28/2025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12/28/2025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12/28/2025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12/28/2025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62000" y="3"/>
            <a:ext cx="2564130" cy="127000"/>
          </a:xfrm>
          <a:custGeom>
            <a:avLst/>
            <a:gdLst/>
            <a:ahLst/>
            <a:cxnLst/>
            <a:rect l="l" t="t" r="r" b="b"/>
            <a:pathLst>
              <a:path w="2564129" h="127000">
                <a:moveTo>
                  <a:pt x="2563990" y="0"/>
                </a:moveTo>
                <a:lnTo>
                  <a:pt x="0" y="0"/>
                </a:lnTo>
                <a:lnTo>
                  <a:pt x="0" y="126996"/>
                </a:lnTo>
                <a:lnTo>
                  <a:pt x="2563990" y="126996"/>
                </a:lnTo>
                <a:lnTo>
                  <a:pt x="2563990" y="0"/>
                </a:lnTo>
                <a:close/>
              </a:path>
            </a:pathLst>
          </a:custGeom>
          <a:solidFill>
            <a:srgbClr val="CA674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096000"/>
            <a:ext cx="12191998" cy="761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1547" y="65532"/>
            <a:ext cx="7619763" cy="10175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84024" y="2064003"/>
            <a:ext cx="9448165" cy="26054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12/28/2025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6.png"/><Relationship Id="rId7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8" cy="68516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605154" y="3021076"/>
            <a:ext cx="3434445" cy="6873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GB" sz="1200" spc="-10" noProof="0" dirty="0">
                <a:solidFill>
                  <a:srgbClr val="426EB0"/>
                </a:solidFill>
                <a:latin typeface="Franklin Gothic Medium"/>
                <a:cs typeface="Franklin Gothic Medium"/>
              </a:rPr>
              <a:t>Students</a:t>
            </a:r>
            <a:endParaRPr lang="en-GB" sz="1200" noProof="0" dirty="0">
              <a:latin typeface="Franklin Gothic Medium"/>
              <a:cs typeface="Franklin Gothic Medium"/>
            </a:endParaRPr>
          </a:p>
          <a:p>
            <a:pPr marL="12700"/>
            <a:r>
              <a:rPr lang="en-GB" sz="1600" noProof="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Mazzoleni Gabriele - 1079514</a:t>
            </a:r>
            <a:endParaRPr lang="en-GB" sz="1600" noProof="0" dirty="0">
              <a:latin typeface="Franklin Gothic Medium"/>
              <a:cs typeface="Franklin Gothic Medium"/>
            </a:endParaRPr>
          </a:p>
          <a:p>
            <a:pPr marL="12700"/>
            <a:r>
              <a:rPr lang="en-GB" sz="1600" noProof="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Comandatore Gaetano- 1090952</a:t>
            </a:r>
            <a:endParaRPr lang="en-GB" sz="1600" noProof="0" dirty="0">
              <a:latin typeface="Franklin Gothic Medium"/>
              <a:cs typeface="Franklin Gothic Medium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07347" y="2743200"/>
            <a:ext cx="2289253" cy="20133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GB" sz="1200" noProof="0" dirty="0">
                <a:solidFill>
                  <a:srgbClr val="C96643"/>
                </a:solidFill>
                <a:latin typeface="Franklin Gothic Medium"/>
                <a:cs typeface="Franklin Gothic Medium"/>
              </a:rPr>
              <a:t>Computer science engineering</a:t>
            </a:r>
            <a:endParaRPr lang="en-GB" sz="1200" noProof="0" dirty="0">
              <a:latin typeface="Franklin Gothic Medium"/>
              <a:cs typeface="Franklin Gothic Medium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53566" y="2560827"/>
            <a:ext cx="6456190" cy="24134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3200" b="0" noProof="0" dirty="0">
                <a:solidFill>
                  <a:srgbClr val="FFFFFF"/>
                </a:solidFill>
                <a:latin typeface="Arial Black"/>
              </a:rPr>
              <a:t>SPC: Subspace Predictive Control</a:t>
            </a:r>
            <a:br>
              <a:rPr lang="en-GB" sz="3200" b="0" noProof="0" dirty="0">
                <a:solidFill>
                  <a:srgbClr val="FFFFFF"/>
                </a:solidFill>
                <a:latin typeface="Arial Black"/>
              </a:rPr>
            </a:br>
            <a:br>
              <a:rPr lang="en-GB" sz="3200" b="0" noProof="0" dirty="0">
                <a:solidFill>
                  <a:srgbClr val="FFFFFF"/>
                </a:solidFill>
                <a:latin typeface="Arial Black"/>
              </a:rPr>
            </a:br>
            <a:r>
              <a:rPr lang="en-GB" sz="2000" b="0" noProof="0" dirty="0">
                <a:solidFill>
                  <a:srgbClr val="FFFFFF"/>
                </a:solidFill>
                <a:latin typeface="Arial Black"/>
              </a:rPr>
              <a:t>Presentation for the course Adaptive Learning, Estimation and Supervision of dynamical systems (ALES)</a:t>
            </a:r>
            <a:endParaRPr lang="en-GB" sz="3200" b="0" noProof="0" dirty="0"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53566" y="5410200"/>
            <a:ext cx="35598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2400" noProof="0" dirty="0">
                <a:solidFill>
                  <a:srgbClr val="FFFFFF"/>
                </a:solidFill>
                <a:latin typeface="Arial Black"/>
                <a:cs typeface="Arial Black"/>
              </a:rPr>
              <a:t>A.Y. 2025/2026</a:t>
            </a:r>
            <a:endParaRPr lang="en-GB" sz="2400" noProof="0" dirty="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BBF1D-1F5E-BF87-3774-E0C37D0EA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649BF47E-C162-179C-D3F1-281638D0D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8991600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Selected paper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610EBCA-39BF-8FE7-E254-D5B99F97EE2E}"/>
              </a:ext>
            </a:extLst>
          </p:cNvPr>
          <p:cNvSpPr txBox="1"/>
          <p:nvPr/>
        </p:nvSpPr>
        <p:spPr>
          <a:xfrm>
            <a:off x="762000" y="1676400"/>
            <a:ext cx="96774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The following presentation as an analysis and implementation of the contents of </a:t>
            </a:r>
            <a:r>
              <a:rPr lang="en-GB" sz="2400" i="1" noProof="0" dirty="0">
                <a:latin typeface="Arial" panose="020B0604020202020204" pitchFamily="34" charset="0"/>
                <a:cs typeface="Arial" panose="020B0604020202020204" pitchFamily="34" charset="0"/>
              </a:rPr>
              <a:t>“SPC: Subspace Prediction Control”, </a:t>
            </a: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by Wouter </a:t>
            </a:r>
            <a:r>
              <a:rPr lang="en-GB" sz="24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Favoreel</a:t>
            </a: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, Bart De Moor and Michel Gevers</a:t>
            </a: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This paper aims to </a:t>
            </a:r>
            <a:r>
              <a:rPr lang="en-GB" sz="2400" i="1" noProof="0" dirty="0">
                <a:latin typeface="Arial" panose="020B0604020202020204" pitchFamily="34" charset="0"/>
                <a:cs typeface="Arial" panose="020B0604020202020204" pitchFamily="34" charset="0"/>
              </a:rPr>
              <a:t>“combine Subspace Identification and Model Predictive Control methods in a very elegant </a:t>
            </a:r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GB" sz="2400" i="1" noProof="0" dirty="0">
                <a:latin typeface="Arial" panose="020B0604020202020204" pitchFamily="34" charset="0"/>
                <a:cs typeface="Arial" panose="020B0604020202020204" pitchFamily="34" charset="0"/>
              </a:rPr>
              <a:t>ay to form a numerically robust and easily implementable control/identification algorithm”. </a:t>
            </a: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2105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8222F-1461-7BFE-6657-A8744E1E4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BA8D8462-C72A-3FC4-9607-F2AEE8C64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9982200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Context of application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6C3A9D56-9CA0-38A9-0194-6995CE6AD34B}"/>
              </a:ext>
            </a:extLst>
          </p:cNvPr>
          <p:cNvSpPr txBox="1"/>
          <p:nvPr/>
        </p:nvSpPr>
        <p:spPr>
          <a:xfrm>
            <a:off x="762000" y="1447800"/>
            <a:ext cx="96774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Subspace System Identification and Model Predictive Control are two widely studied and applied methods to solve two problems that are usually considered separate: these problems being system identification and system control.</a:t>
            </a: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The SPC method aims to replace the system identification step and the calculation of the controller parameters with a QR decomposition followed by an SVD decomposition of a matrix that is constructed using known inputs and outputs only, combining the two solution to two problems into an elegant solution  for one big problem.</a:t>
            </a: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541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3813E-68A3-28F5-C92E-8C2615847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C2287B64-819A-222C-D66C-9E7F168CF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515598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System model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49EC1B8-EC3A-FA81-4CFB-7D1041980CA9}"/>
              </a:ext>
            </a:extLst>
          </p:cNvPr>
          <p:cNvSpPr txBox="1"/>
          <p:nvPr/>
        </p:nvSpPr>
        <p:spPr>
          <a:xfrm>
            <a:off x="761999" y="1219200"/>
            <a:ext cx="1051559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The paper considers a LTI system of the form:</a:t>
            </a: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Where: 	</a:t>
            </a:r>
          </a:p>
          <a:p>
            <a:pPr algn="just"/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	  are the </a:t>
            </a: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system inputs		</a:t>
            </a:r>
          </a:p>
          <a:p>
            <a:pPr algn="just"/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	  are the </a:t>
            </a: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system outputs		</a:t>
            </a:r>
          </a:p>
          <a:p>
            <a:pPr algn="just"/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	  are the system states</a:t>
            </a:r>
          </a:p>
          <a:p>
            <a:pPr algn="just"/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					             </a:t>
            </a: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is the noise sequence </a:t>
            </a:r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GB" sz="2400" i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 only </a:t>
            </a:r>
            <a:r>
              <a:rPr lang="en-GB" sz="24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GB" sz="12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GB" sz="24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GB" sz="12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 are </a:t>
            </a:r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known 	</a:t>
            </a:r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7F5D2AB-A58A-DBB5-8FD6-A0048A0AAD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952473"/>
            <a:ext cx="4535515" cy="1036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Picture 13">
            <a:extLst>
              <a:ext uri="{FF2B5EF4-FFF2-40B4-BE49-F238E27FC236}">
                <a16:creationId xmlns:a16="http://schemas.microsoft.com/office/drawing/2014/main" id="{22782CCD-2EDD-0D55-CB6A-90B8004B79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 b="11200"/>
          <a:stretch>
            <a:fillRect/>
          </a:stretch>
        </p:blipFill>
        <p:spPr bwMode="auto">
          <a:xfrm>
            <a:off x="931333" y="3817756"/>
            <a:ext cx="1042987" cy="363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15">
            <a:extLst>
              <a:ext uri="{FF2B5EF4-FFF2-40B4-BE49-F238E27FC236}">
                <a16:creationId xmlns:a16="http://schemas.microsoft.com/office/drawing/2014/main" id="{F2130169-7A62-2370-6033-AF59ED3C54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916"/>
          <a:stretch>
            <a:fillRect/>
          </a:stretch>
        </p:blipFill>
        <p:spPr bwMode="auto">
          <a:xfrm>
            <a:off x="914401" y="4223426"/>
            <a:ext cx="1042988" cy="424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1" name="Picture 17">
            <a:extLst>
              <a:ext uri="{FF2B5EF4-FFF2-40B4-BE49-F238E27FC236}">
                <a16:creationId xmlns:a16="http://schemas.microsoft.com/office/drawing/2014/main" id="{155CD979-0889-241F-CF57-01126C6459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619"/>
          <a:stretch>
            <a:fillRect/>
          </a:stretch>
        </p:blipFill>
        <p:spPr bwMode="auto">
          <a:xfrm>
            <a:off x="914401" y="4561728"/>
            <a:ext cx="1059920" cy="424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804C8C31-9EE7-2A9B-EBD8-FEC10261F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424" y="4953000"/>
            <a:ext cx="222779" cy="32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Immagine 16" descr="Immagine che contiene testo, Carattere, bianco, linea&#10;&#10;Il contenuto generato dall'IA potrebbe non essere corretto.">
            <a:extLst>
              <a:ext uri="{FF2B5EF4-FFF2-40B4-BE49-F238E27FC236}">
                <a16:creationId xmlns:a16="http://schemas.microsoft.com/office/drawing/2014/main" id="{45778853-4A7D-D6C6-3591-D8D2A8832E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1628" y="4909227"/>
            <a:ext cx="5146288" cy="424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664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B7DE3-51CD-6B5A-2B5E-0306F45D4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4C25E8CD-460D-EA59-6695-FF3B1931B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8991600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Block Hankel matrices definition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59CB48FC-5C86-0F21-A5FE-DF198C688242}"/>
              </a:ext>
            </a:extLst>
          </p:cNvPr>
          <p:cNvSpPr txBox="1"/>
          <p:nvPr/>
        </p:nvSpPr>
        <p:spPr>
          <a:xfrm>
            <a:off x="762000" y="1371600"/>
            <a:ext cx="107442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The SPC algorithm starts by defining the block Hankel matrices for inputs, outputs and noise, assuming k= </a:t>
            </a:r>
            <a:r>
              <a:rPr lang="en-GB" sz="2400" dirty="0" err="1">
                <a:latin typeface="Arial" panose="020B0604020202020204" pitchFamily="34" charset="0"/>
                <a:cs typeface="Arial" panose="020B0604020202020204" pitchFamily="34" charset="0"/>
              </a:rPr>
              <a:t>N+M+j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total samples for all three signals:</a:t>
            </a: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We define the matrices			     in the same way.</a:t>
            </a:r>
          </a:p>
          <a:p>
            <a:pPr algn="just"/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p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represents “past” matrices, with M being the number of “past” data points</a:t>
            </a:r>
          </a:p>
          <a:p>
            <a:pPr algn="just"/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f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represents “future”	matrices, with N being the number of “future” data points</a:t>
            </a:r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3" name="Picture 5">
            <a:extLst>
              <a:ext uri="{FF2B5EF4-FFF2-40B4-BE49-F238E27FC236}">
                <a16:creationId xmlns:a16="http://schemas.microsoft.com/office/drawing/2014/main" id="{4F164D35-540F-683B-ECC3-C08E58382E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348955"/>
            <a:ext cx="4191000" cy="1478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347E99B8-3CE4-4F97-7F95-CF09DA3AEB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6774" y="2362200"/>
            <a:ext cx="4682226" cy="1459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5B787739-D46B-F10D-E3AA-16E4AC3E9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4341820"/>
            <a:ext cx="2514600" cy="469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9057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DC92A-4B12-4310-5445-23DD1B263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0CCEDA94-E413-B429-A6A5-E9B625CED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457200"/>
            <a:ext cx="9691687" cy="538609"/>
          </a:xfrm>
        </p:spPr>
        <p:txBody>
          <a:bodyPr/>
          <a:lstStyle/>
          <a:p>
            <a:r>
              <a:rPr lang="en-GB" dirty="0">
                <a:latin typeface="Arial Black" panose="020B0A04020102020204" pitchFamily="34" charset="0"/>
              </a:rPr>
              <a:t>Subspace</a:t>
            </a:r>
            <a:r>
              <a:rPr lang="en-GB" noProof="0" dirty="0">
                <a:latin typeface="Arial Black" panose="020B0A04020102020204" pitchFamily="34" charset="0"/>
              </a:rPr>
              <a:t> solution –</a:t>
            </a:r>
            <a:r>
              <a:rPr lang="en-GB" dirty="0">
                <a:latin typeface="Arial Black" panose="020B0A04020102020204" pitchFamily="34" charset="0"/>
              </a:rPr>
              <a:t> Step 1</a:t>
            </a:r>
            <a:endParaRPr lang="en-GB" noProof="0" dirty="0">
              <a:latin typeface="Arial Black" panose="020B0A04020102020204" pitchFamily="34" charset="0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C7A28961-FE8E-DBE6-658C-1CF89EA111A0}"/>
              </a:ext>
            </a:extLst>
          </p:cNvPr>
          <p:cNvSpPr txBox="1"/>
          <p:nvPr/>
        </p:nvSpPr>
        <p:spPr>
          <a:xfrm>
            <a:off x="723900" y="1191645"/>
            <a:ext cx="107442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We can solve the </a:t>
            </a:r>
            <a:r>
              <a:rPr lang="it-IT" sz="24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subspace</a:t>
            </a:r>
            <a:r>
              <a:rPr lang="it-IT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4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problem</a:t>
            </a:r>
            <a:r>
              <a:rPr lang="it-IT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4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using</a:t>
            </a:r>
            <a:r>
              <a:rPr lang="it-IT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 QR </a:t>
            </a:r>
            <a:r>
              <a:rPr lang="it-IT" sz="24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decomposition</a:t>
            </a:r>
            <a:r>
              <a:rPr lang="it-IT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 like so</a:t>
            </a:r>
          </a:p>
          <a:p>
            <a:pPr algn="just"/>
            <a:endParaRPr lang="it-IT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it-IT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it-IT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it-IT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it-IT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it-IT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it-IT" sz="2400" dirty="0" err="1">
                <a:latin typeface="Arial" panose="020B0604020202020204" pitchFamily="34" charset="0"/>
                <a:cs typeface="Arial" panose="020B0604020202020204" pitchFamily="34" charset="0"/>
              </a:rPr>
              <a:t>then</a:t>
            </a: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 computing the </a:t>
            </a:r>
            <a:r>
              <a:rPr lang="it-IT" sz="2400" dirty="0" err="1">
                <a:latin typeface="Arial" panose="020B0604020202020204" pitchFamily="34" charset="0"/>
                <a:cs typeface="Arial" panose="020B0604020202020204" pitchFamily="34" charset="0"/>
              </a:rPr>
              <a:t>matrix</a:t>
            </a: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/>
            <a:endParaRPr lang="it-IT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it-IT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it-IT" sz="24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it-IT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4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thus</a:t>
            </a:r>
            <a:r>
              <a:rPr lang="it-IT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E7E1F09-7C16-296C-4CF3-EFD91FD30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828800"/>
            <a:ext cx="6400799" cy="1822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03B6592E-7D46-D962-F6B1-82CF1B530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676830"/>
            <a:ext cx="4343400" cy="828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149A6B57-5CEE-C02B-D4BE-FCBA8BC3CC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4953000"/>
            <a:ext cx="320040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285E648B-7359-C131-0198-9CC8227548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0748" y="4953000"/>
            <a:ext cx="3492903" cy="533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7720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1D38E-E42A-794A-265F-EE9B02AF1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2E3A97D5-B71A-83F2-FF50-EEA420BD9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457200"/>
            <a:ext cx="9691687" cy="538609"/>
          </a:xfrm>
        </p:spPr>
        <p:txBody>
          <a:bodyPr/>
          <a:lstStyle/>
          <a:p>
            <a:r>
              <a:rPr lang="en-GB" dirty="0">
                <a:latin typeface="Arial Black" panose="020B0A04020102020204" pitchFamily="34" charset="0"/>
              </a:rPr>
              <a:t>Subspace</a:t>
            </a:r>
            <a:r>
              <a:rPr lang="en-GB" noProof="0" dirty="0">
                <a:latin typeface="Arial Black" panose="020B0A04020102020204" pitchFamily="34" charset="0"/>
              </a:rPr>
              <a:t> solution – </a:t>
            </a:r>
            <a:r>
              <a:rPr lang="en-GB" dirty="0">
                <a:latin typeface="Arial Black" panose="020B0A04020102020204" pitchFamily="34" charset="0"/>
              </a:rPr>
              <a:t>Step 2</a:t>
            </a:r>
            <a:endParaRPr lang="en-GB" noProof="0" dirty="0">
              <a:latin typeface="Arial Black" panose="020B0A040201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A1B4B6DF-2C26-DCB2-E799-BC690D152E4A}"/>
                  </a:ext>
                </a:extLst>
              </p:cNvPr>
              <p:cNvSpPr txBox="1"/>
              <p:nvPr/>
            </p:nvSpPr>
            <p:spPr>
              <a:xfrm>
                <a:off x="723900" y="1191645"/>
                <a:ext cx="10744200" cy="38152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</a:t>
                </a:r>
                <a:r>
                  <a:rPr lang="it-I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next</a:t>
                </a: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step of the </a:t>
                </a:r>
                <a:r>
                  <a:rPr lang="it-I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algotithm</a:t>
                </a: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is</a:t>
                </a: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to </a:t>
                </a:r>
                <a:r>
                  <a:rPr lang="it-I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execute</a:t>
                </a: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a </a:t>
                </a:r>
                <a:r>
                  <a:rPr lang="it-I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rank</a:t>
                </a: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-n </a:t>
                </a:r>
                <a:r>
                  <a:rPr lang="it-I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approximation</a:t>
                </a: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𝐿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it-IT" sz="2400" noProof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using</a:t>
                </a:r>
                <a:r>
                  <a:rPr lang="it-IT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SVD </a:t>
                </a:r>
                <a:r>
                  <a:rPr lang="it-IT" sz="2400" noProof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decomposition</a:t>
                </a:r>
                <a:r>
                  <a:rPr lang="it-IT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(n </a:t>
                </a:r>
                <a:r>
                  <a:rPr lang="it-IT" sz="2400" noProof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is</a:t>
                </a:r>
                <a:r>
                  <a:rPr lang="it-IT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2400" noProof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chosen</a:t>
                </a:r>
                <a:r>
                  <a:rPr lang="it-IT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by </a:t>
                </a:r>
                <a:r>
                  <a:rPr lang="it-IT" sz="2400" noProof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inspecting</a:t>
                </a:r>
                <a:r>
                  <a:rPr lang="it-IT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the </a:t>
                </a:r>
                <a:r>
                  <a:rPr lang="it-IT" sz="2400" noProof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number</a:t>
                </a:r>
                <a:r>
                  <a:rPr lang="it-IT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of </a:t>
                </a:r>
                <a:r>
                  <a:rPr lang="it-IT" sz="2400" noProof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singular</a:t>
                </a:r>
                <a:r>
                  <a:rPr lang="it-IT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2400" noProof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values</a:t>
                </a:r>
                <a:r>
                  <a:rPr lang="it-IT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of S):</a:t>
                </a:r>
              </a:p>
              <a:p>
                <a:pPr algn="just"/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it-IT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it-IT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it-IT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Note: under the </a:t>
                </a:r>
                <a:r>
                  <a:rPr lang="it-IT" sz="2400" noProof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assumption</a:t>
                </a:r>
                <a:r>
                  <a:rPr lang="it-IT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2400" noProof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that</a:t>
                </a:r>
                <a:r>
                  <a:rPr lang="it-IT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the </a:t>
                </a:r>
                <a:r>
                  <a:rPr lang="it-IT" sz="2400" noProof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number</a:t>
                </a:r>
                <a:r>
                  <a:rPr lang="it-IT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of </a:t>
                </a:r>
                <a:r>
                  <a:rPr lang="it-IT" sz="2400" noProof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columns</a:t>
                </a:r>
                <a:r>
                  <a:rPr lang="it-IT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of		      </a:t>
                </a:r>
                <a:r>
                  <a:rPr lang="it-IT" sz="2400" noProof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is</a:t>
                </a:r>
                <a:r>
                  <a:rPr lang="it-IT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infinite		, </a:t>
                </a:r>
                <a:r>
                  <a:rPr lang="it-IT" sz="2400" noProof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there</a:t>
                </a:r>
                <a:r>
                  <a:rPr lang="it-IT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2400" noProof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is</a:t>
                </a:r>
                <a:r>
                  <a:rPr lang="it-IT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a </a:t>
                </a:r>
                <a:r>
                  <a:rPr lang="it-IT" sz="2400" noProof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direct</a:t>
                </a:r>
                <a:r>
                  <a:rPr lang="it-IT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link </a:t>
                </a:r>
                <a:r>
                  <a:rPr lang="it-IT" sz="2400" noProof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between</a:t>
                </a:r>
                <a:r>
                  <a:rPr lang="it-IT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𝐿</m:t>
                        </m:r>
                      </m:e>
                      <m:sub>
                        <m: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and the </a:t>
                </a:r>
                <a:r>
                  <a:rPr lang="it-IT" sz="2400" noProof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observability</a:t>
                </a:r>
                <a:r>
                  <a:rPr lang="it-IT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2400" noProof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matrix</a:t>
                </a:r>
                <a:r>
                  <a:rPr lang="it-IT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Γ</m:t>
                        </m:r>
                      </m:e>
                      <m:sub>
                        <m: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it-IT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the state </a:t>
                </a:r>
                <a:r>
                  <a:rPr lang="it-IT" sz="2400" noProof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sequence</a:t>
                </a:r>
                <a:r>
                  <a:rPr lang="it-IT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</m:e>
                      <m:sub>
                        <m: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it-IT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A1B4B6DF-2C26-DCB2-E799-BC690D152E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" y="1191645"/>
                <a:ext cx="10744200" cy="3815275"/>
              </a:xfrm>
              <a:prstGeom prst="rect">
                <a:avLst/>
              </a:prstGeom>
              <a:blipFill>
                <a:blip r:embed="rId2"/>
                <a:stretch>
                  <a:fillRect l="-908" t="-1118" r="-851" b="-191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2" name="Picture 2">
            <a:extLst>
              <a:ext uri="{FF2B5EF4-FFF2-40B4-BE49-F238E27FC236}">
                <a16:creationId xmlns:a16="http://schemas.microsoft.com/office/drawing/2014/main" id="{5BA532AF-A20F-2BC1-4CBE-CDD59562E3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842" y="2385641"/>
            <a:ext cx="6527158" cy="1271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7" name="Picture 7">
            <a:extLst>
              <a:ext uri="{FF2B5EF4-FFF2-40B4-BE49-F238E27FC236}">
                <a16:creationId xmlns:a16="http://schemas.microsoft.com/office/drawing/2014/main" id="{D68969F2-E63F-B955-2D4F-6532313FE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9200" y="3810000"/>
            <a:ext cx="1259253" cy="351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>
            <a:extLst>
              <a:ext uri="{FF2B5EF4-FFF2-40B4-BE49-F238E27FC236}">
                <a16:creationId xmlns:a16="http://schemas.microsoft.com/office/drawing/2014/main" id="{F8870000-4025-7FA0-A09D-3F6C8DDFDA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4234149"/>
            <a:ext cx="770412" cy="261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4" name="Picture 14">
            <a:extLst>
              <a:ext uri="{FF2B5EF4-FFF2-40B4-BE49-F238E27FC236}">
                <a16:creationId xmlns:a16="http://schemas.microsoft.com/office/drawing/2014/main" id="{CE28A8CE-E4CC-199A-A7D6-56874E14E7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" y="5029200"/>
            <a:ext cx="1964724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5" name="Picture 15">
            <a:extLst>
              <a:ext uri="{FF2B5EF4-FFF2-40B4-BE49-F238E27FC236}">
                <a16:creationId xmlns:a16="http://schemas.microsoft.com/office/drawing/2014/main" id="{208A52BD-01C4-AAF0-3F91-52838E9F9F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5029200"/>
            <a:ext cx="3393822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1511BC54-FC04-4EF5-B6CB-DB2BC5202002}"/>
                  </a:ext>
                </a:extLst>
              </p:cNvPr>
              <p:cNvSpPr txBox="1"/>
              <p:nvPr/>
            </p:nvSpPr>
            <p:spPr>
              <a:xfrm>
                <a:off x="7239000" y="5105400"/>
                <a:ext cx="4229100" cy="6823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8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it-IT" sz="18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lang="it-IT" sz="18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it-IT" sz="18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  <m:r>
                      <a:rPr lang="it-IT" sz="1800" b="0" i="1" noProof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dirty="0"/>
                  <a:t>is a Kalman filter estimate of</a:t>
                </a:r>
                <a14:m>
                  <m:oMath xmlns:m="http://schemas.openxmlformats.org/officeDocument/2006/math">
                    <m:r>
                      <a:rPr lang="it-IT" sz="1800" b="0" i="0" noProof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sSub>
                      <m:sSubPr>
                        <m:ctrlPr>
                          <a:rPr lang="it-IT" sz="18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it-IT" sz="18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</m:e>
                      <m:sub>
                        <m:r>
                          <a:rPr lang="it-IT" sz="18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it-IT" dirty="0"/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1511BC54-FC04-4EF5-B6CB-DB2BC52020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0" y="5105400"/>
                <a:ext cx="4229100" cy="682366"/>
              </a:xfrm>
              <a:prstGeom prst="rect">
                <a:avLst/>
              </a:prstGeom>
              <a:blipFill>
                <a:blip r:embed="rId8"/>
                <a:stretch>
                  <a:fillRect t="-360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0267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53F32-E3E6-C505-8515-922310E3D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6953E27C-10B1-A2E6-6AC4-7B493C8B4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457200"/>
            <a:ext cx="9691687" cy="1615827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Proposed solution –  </a:t>
            </a:r>
            <a:br>
              <a:rPr lang="en-GB" noProof="0" dirty="0">
                <a:latin typeface="Arial Black" panose="020B0A04020102020204" pitchFamily="34" charset="0"/>
              </a:rPr>
            </a:br>
            <a:r>
              <a:rPr lang="en-GB" dirty="0">
                <a:latin typeface="Arial Black" panose="020B0A04020102020204" pitchFamily="34" charset="0"/>
              </a:rPr>
              <a:t>Defining the predictor and LS problem</a:t>
            </a:r>
            <a:endParaRPr lang="en-GB" noProof="0" dirty="0">
              <a:latin typeface="Arial Black" panose="020B0A040201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A9F1D71B-7C26-282E-A5F7-6C13EFA9D5D8}"/>
                  </a:ext>
                </a:extLst>
              </p:cNvPr>
              <p:cNvSpPr txBox="1"/>
              <p:nvPr/>
            </p:nvSpPr>
            <p:spPr>
              <a:xfrm>
                <a:off x="762000" y="1676400"/>
                <a:ext cx="10744200" cy="30630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1200"/>
                  </a:spcAft>
                </a:pPr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Using the past </a:t>
                </a:r>
                <a:r>
                  <a:rPr lang="en-GB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matrices		         and then defining an output predictor </a:t>
                </a:r>
              </a:p>
              <a:p>
                <a:pPr algn="just">
                  <a:spcAft>
                    <a:spcPts val="1200"/>
                  </a:spcAft>
                </a:pPr>
                <a:r>
                  <a:rPr lang="en-GB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as linear function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𝑊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𝑝</m:t>
                        </m:r>
                      </m:sub>
                    </m:sSub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GB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𝑈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GB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𝐿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GB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𝐿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GB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play the role of weight 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it-IT" sz="24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accPr>
                            <m:e>
                              <m:r>
                                <a:rPr lang="it-IT" sz="24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</m:sub>
                      </m:sSub>
                      <m:r>
                        <a:rPr lang="it-IT" sz="2400" b="0" i="1" noProof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𝐿</m:t>
                          </m:r>
                        </m:e>
                        <m:sub>
                          <m: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</m:sub>
                      </m:sSub>
                      <m:sSub>
                        <m:sSubPr>
                          <m:ctrlP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𝑊</m:t>
                          </m:r>
                        </m:e>
                        <m:sub>
                          <m: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</m:sub>
                      </m:sSub>
                      <m:r>
                        <a:rPr lang="it-IT" sz="2400" b="0" i="1" noProof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𝐿</m:t>
                          </m:r>
                        </m:e>
                        <m:sub>
                          <m: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sub>
                      </m:sSub>
                      <m:sSub>
                        <m:sSubPr>
                          <m:ctrlP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𝑈</m:t>
                          </m:r>
                        </m:e>
                        <m:sub>
                          <m: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GB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GB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its possible to set </a:t>
                </a:r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the </a:t>
                </a:r>
                <a:r>
                  <a:rPr lang="en-GB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least squares problem and solving it, find the best approximation 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𝐿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sub>
                    </m:sSub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sSub>
                      <m:sSubPr>
                        <m:ctrlPr>
                          <a:rPr lang="it-IT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𝐿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sub>
                    </m:sSub>
                  </m:oMath>
                </a14:m>
                <a:endParaRPr lang="it-IT" sz="24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A9F1D71B-7C26-282E-A5F7-6C13EFA9D5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676400"/>
                <a:ext cx="10744200" cy="3063083"/>
              </a:xfrm>
              <a:prstGeom prst="rect">
                <a:avLst/>
              </a:prstGeom>
              <a:blipFill>
                <a:blip r:embed="rId2"/>
                <a:stretch>
                  <a:fillRect l="-851" t="-1394" r="-79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>
            <a:extLst>
              <a:ext uri="{FF2B5EF4-FFF2-40B4-BE49-F238E27FC236}">
                <a16:creationId xmlns:a16="http://schemas.microsoft.com/office/drawing/2014/main" id="{888B6C39-EA51-2423-9BBE-9407BF7869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59818"/>
            <a:ext cx="1752600" cy="691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49EE8198-8CC9-6E6C-4F5A-4252BDD11C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2712" y="4572000"/>
            <a:ext cx="7800975" cy="103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7728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E50CC-0AE1-267D-FC4D-B9618FB63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177C2024-14B5-7E65-430A-6F702AF43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457200"/>
            <a:ext cx="9691687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Proposed solution – </a:t>
            </a:r>
            <a:r>
              <a:rPr lang="en-GB" dirty="0">
                <a:latin typeface="Arial Black" panose="020B0A04020102020204" pitchFamily="34" charset="0"/>
              </a:rPr>
              <a:t>MPC problem</a:t>
            </a:r>
            <a:endParaRPr lang="en-GB" noProof="0" dirty="0">
              <a:latin typeface="Arial Black" panose="020B0A040201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C6A839EB-6E78-0A60-AB09-75FB87247019}"/>
                  </a:ext>
                </a:extLst>
              </p:cNvPr>
              <p:cNvSpPr txBox="1"/>
              <p:nvPr/>
            </p:nvSpPr>
            <p:spPr>
              <a:xfrm>
                <a:off x="723900" y="1185270"/>
                <a:ext cx="10744200" cy="52155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idea of the MPC </a:t>
                </a:r>
                <a:r>
                  <a:rPr lang="it-I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portion</a:t>
                </a: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of the </a:t>
                </a:r>
                <a:r>
                  <a:rPr lang="it-I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algorithm</a:t>
                </a: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revolves</a:t>
                </a: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around</a:t>
                </a: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the </a:t>
                </a:r>
                <a:r>
                  <a:rPr lang="it-I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construction</a:t>
                </a: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of a controller </a:t>
                </a:r>
                <a:r>
                  <a:rPr lang="en-US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that</a:t>
                </a: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minimizes</a:t>
                </a: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a cost </a:t>
                </a:r>
                <a:r>
                  <a:rPr lang="it-I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function</a:t>
                </a: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J 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𝐽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it-IT" sz="32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it-IT" sz="32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it-IT" sz="32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it-IT" sz="32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it-IT" sz="32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it-IT" sz="32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𝑓</m:t>
                                  </m:r>
                                </m:sub>
                              </m:sSub>
                              <m:r>
                                <a:rPr lang="it-IT" sz="32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it-IT" sz="32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32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it-IT" sz="32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𝑓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it-IT" sz="32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𝑇</m:t>
                          </m:r>
                        </m:sup>
                      </m:sSup>
                      <m:r>
                        <a:rPr lang="it-IT" sz="3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𝑄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it-IT" sz="32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it-IT" sz="32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accPr>
                            <m:e>
                              <m:r>
                                <a:rPr lang="it-IT" sz="32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it-IT" sz="32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</m:sub>
                      </m:sSub>
                      <m:r>
                        <a:rPr lang="it-IT" sz="3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sSub>
                        <m:sSubPr>
                          <m:ctrlPr>
                            <a:rPr lang="it-IT" sz="32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𝑟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</m:sub>
                      </m:sSub>
                      <m:r>
                        <a:rPr lang="it-IT" sz="3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)+</m:t>
                      </m:r>
                      <m:sSubSup>
                        <m:sSubSupPr>
                          <m:ctrlPr>
                            <a:rPr lang="it-IT" sz="32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it-IT" sz="32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</m:sub>
                        <m:sup>
                          <m:r>
                            <a:rPr lang="it-IT" sz="32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𝑇</m:t>
                          </m:r>
                        </m:sup>
                      </m:sSubSup>
                      <m:r>
                        <a:rPr lang="it-IT" sz="3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𝑅</m:t>
                      </m:r>
                      <m:sSub>
                        <m:sSubPr>
                          <m:ctrlPr>
                            <a:rPr lang="it-IT" sz="32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it-IT" sz="4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it-IT" sz="24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In </a:t>
                </a:r>
                <a:r>
                  <a:rPr lang="it-IT" sz="2400" b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this</a:t>
                </a:r>
                <a:r>
                  <a:rPr lang="it-IT" sz="24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2400" b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context</a:t>
                </a:r>
                <a:r>
                  <a:rPr lang="it-IT" sz="24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𝑟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it-IT" sz="24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are the </a:t>
                </a:r>
                <a:r>
                  <a:rPr lang="it-IT" sz="2400" b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reference</a:t>
                </a:r>
                <a:r>
                  <a:rPr lang="it-IT" sz="24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outputs, </a:t>
                </a:r>
                <a:r>
                  <a:rPr lang="it-IT" sz="2400" b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while</a:t>
                </a:r>
                <a:r>
                  <a:rPr lang="it-IT" sz="24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it-IT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lang="it-IT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it-IT" sz="24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are the </a:t>
                </a:r>
                <a:r>
                  <a:rPr lang="it-IT" sz="2400" b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estimated</a:t>
                </a:r>
                <a:r>
                  <a:rPr lang="it-IT" sz="24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outputs of the system,</a:t>
                </a:r>
                <a:r>
                  <a:rPr lang="it-IT" sz="2400" noProof="0" dirty="0"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e>
                      <m:sub>
                        <m: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it-IT" sz="24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is the future input </a:t>
                </a:r>
                <a:r>
                  <a:rPr lang="it-IT" sz="2400" b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sequence</a:t>
                </a:r>
                <a:r>
                  <a:rPr lang="it-IT" sz="24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, and Q and R are user- </a:t>
                </a:r>
                <a:r>
                  <a:rPr lang="it-IT" sz="2400" b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defined</a:t>
                </a:r>
                <a:r>
                  <a:rPr lang="it-IT" sz="24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2400" b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diagonal</a:t>
                </a:r>
                <a:r>
                  <a:rPr lang="it-IT" sz="24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weight </a:t>
                </a:r>
                <a:r>
                  <a:rPr lang="it-IT" sz="2400" b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matrices</a:t>
                </a:r>
                <a:r>
                  <a:rPr lang="it-IT" sz="24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algn="just"/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it-IT" sz="2400" noProof="0" dirty="0">
                    <a:cs typeface="Arial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it-IT" sz="24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lang="it-IT" sz="24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  <m:r>
                      <a:rPr lang="it-IT" sz="2400" b="0" i="1" noProof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it-IT" sz="24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it-IT" sz="2400" b="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it-IT" sz="2400" b="0" i="1" noProof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it-IT" sz="2400" b="0" i="1" noProof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it-IT" sz="2400" b="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  <m:e>
                            <m:sSub>
                              <m:sSubPr>
                                <m:ctrlPr>
                                  <a:rPr lang="it-IT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it-IT" sz="24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it-IT" sz="24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it-IT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it-IT" sz="24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it-IT" sz="24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it-IT" sz="2400" noProof="0" dirty="0">
                    <a:cs typeface="Arial" panose="020B0604020202020204" pitchFamily="34" charset="0"/>
                  </a:rPr>
                  <a:t>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e>
                      <m:sub>
                        <m: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  <m:r>
                      <a:rPr lang="it-IT" sz="2400" b="0" i="1" noProof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it-IT" sz="24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it-IT" sz="2400" b="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it-IT" sz="2400" b="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it-IT" sz="2400" b="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  <m:e>
                            <m:sSub>
                              <m:sSubPr>
                                <m:ctrlPr>
                                  <a:rPr lang="it-IT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it-IT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it-IT" sz="24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  <a:r>
                  <a:rPr lang="it-IT" sz="2400" noProof="0" dirty="0">
                    <a:cs typeface="Arial" panose="020B0604020202020204" pitchFamily="34" charset="0"/>
                  </a:rPr>
                  <a:t>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𝑟</m:t>
                        </m:r>
                      </m:e>
                      <m:sub>
                        <m: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  <m:r>
                      <a:rPr lang="it-IT" sz="2400" b="0" i="1" noProof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it-IT" sz="24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it-IT" sz="2400" b="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it-IT" sz="2400" b="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it-IT" sz="2400" b="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  <m:e>
                            <m:sSub>
                              <m:sSubPr>
                                <m:ctrlPr>
                                  <a:rPr lang="it-IT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it-IT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endParaRPr lang="it-IT" sz="24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C6A839EB-6E78-0A60-AB09-75FB872470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" y="1185270"/>
                <a:ext cx="10744200" cy="5215530"/>
              </a:xfrm>
              <a:prstGeom prst="rect">
                <a:avLst/>
              </a:prstGeom>
              <a:blipFill>
                <a:blip r:embed="rId3"/>
                <a:stretch>
                  <a:fillRect l="-908" t="-818" r="-85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20719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3C11E-7BCF-F721-1738-8FC042ABB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D4A6EC3A-C7C0-E9D2-0113-1DBC7FBC5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457200"/>
            <a:ext cx="9691687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Proposed solution – Principle of </a:t>
            </a:r>
            <a:r>
              <a:rPr lang="en-GB" dirty="0">
                <a:latin typeface="Arial Black" panose="020B0A04020102020204" pitchFamily="34" charset="0"/>
              </a:rPr>
              <a:t>MPC</a:t>
            </a:r>
            <a:endParaRPr lang="en-GB" noProof="0" dirty="0">
              <a:latin typeface="Arial Black" panose="020B0A040201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07438525-36CC-3470-CEA6-B1FF903B89EA}"/>
                  </a:ext>
                </a:extLst>
              </p:cNvPr>
              <p:cNvSpPr txBox="1"/>
              <p:nvPr/>
            </p:nvSpPr>
            <p:spPr>
              <a:xfrm>
                <a:off x="723900" y="1185270"/>
                <a:ext cx="10744200" cy="15992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</a:t>
                </a:r>
                <a:r>
                  <a:rPr lang="it-I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aim</a:t>
                </a: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is</a:t>
                </a: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to </a:t>
                </a:r>
                <a:r>
                  <a:rPr lang="it-I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find</a:t>
                </a: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the feature control </a:t>
                </a:r>
                <a:r>
                  <a:rPr lang="it-I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sequence</a:t>
                </a: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e>
                      <m:sub>
                        <m: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that</a:t>
                </a: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minimizes</a:t>
                </a: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the performance </a:t>
                </a:r>
                <a:r>
                  <a:rPr lang="it-I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criterion</a:t>
                </a: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J. The </a:t>
                </a:r>
                <a:r>
                  <a:rPr lang="it-I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prediction</a:t>
                </a: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of the </a:t>
                </a:r>
                <a:r>
                  <a:rPr lang="it-I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forward</a:t>
                </a: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horizon</a:t>
                </a: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is</a:t>
                </a: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done</a:t>
                </a: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on the </a:t>
                </a:r>
                <a:r>
                  <a:rPr lang="it-I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basis</a:t>
                </a: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of the knowledge of the </a:t>
                </a:r>
                <a:r>
                  <a:rPr lang="it-I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backward</a:t>
                </a: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horizon</a:t>
                </a: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it-IT" sz="24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07438525-36CC-3470-CEA6-B1FF903B89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" y="1185270"/>
                <a:ext cx="10744200" cy="1599284"/>
              </a:xfrm>
              <a:prstGeom prst="rect">
                <a:avLst/>
              </a:prstGeom>
              <a:blipFill>
                <a:blip r:embed="rId3"/>
                <a:stretch>
                  <a:fillRect l="-908" t="-3042" r="-85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magine 3" descr="Immagine che contiene linea, diagramma, schizzo, bianco&#10;&#10;Il contenuto generato dall'IA potrebbe non essere corretto.">
            <a:extLst>
              <a:ext uri="{FF2B5EF4-FFF2-40B4-BE49-F238E27FC236}">
                <a16:creationId xmlns:a16="http://schemas.microsoft.com/office/drawing/2014/main" id="{B222F164-CA94-95B8-F4E9-4539198730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2549447"/>
            <a:ext cx="6381193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613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5A748-8538-F760-9E6B-4F27E13A3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E760A000-055B-7F77-DE2E-D83FE64AA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457200"/>
            <a:ext cx="9691687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Proposed solution – Control</a:t>
            </a:r>
            <a:r>
              <a:rPr lang="en-GB" dirty="0">
                <a:latin typeface="Arial Black" panose="020B0A04020102020204" pitchFamily="34" charset="0"/>
              </a:rPr>
              <a:t> step 1</a:t>
            </a:r>
            <a:endParaRPr lang="en-GB" noProof="0" dirty="0">
              <a:latin typeface="Arial Black" panose="020B0A040201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0367F24C-DB9D-043A-C3E0-240A6426CF81}"/>
                  </a:ext>
                </a:extLst>
              </p:cNvPr>
              <p:cNvSpPr txBox="1"/>
              <p:nvPr/>
            </p:nvSpPr>
            <p:spPr>
              <a:xfrm>
                <a:off x="723900" y="1191645"/>
                <a:ext cx="10744200" cy="48730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it-IT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We </a:t>
                </a:r>
                <a:r>
                  <a:rPr lang="it-IT" sz="2400" noProof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need</a:t>
                </a:r>
                <a:r>
                  <a:rPr lang="it-IT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to </a:t>
                </a:r>
                <a:r>
                  <a:rPr lang="it-IT" sz="2400" noProof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define</a:t>
                </a:r>
                <a:r>
                  <a:rPr lang="it-IT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the controller input,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e>
                      <m:sub>
                        <m: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it-IT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it-I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using</a:t>
                </a: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the </a:t>
                </a:r>
                <a:r>
                  <a:rPr lang="it-I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past</a:t>
                </a: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inputs and outputs of the system:</a:t>
                </a:r>
              </a:p>
              <a:p>
                <a:pPr algn="just"/>
                <a:endParaRPr lang="it-IT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𝑝</m:t>
                        </m:r>
                      </m:sub>
                    </m:sSub>
                    <m:r>
                      <a:rPr lang="it-IT" sz="2400" b="0" i="1" noProof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it-IT" sz="24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it-IT" sz="2400" b="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it-IT" sz="2400" b="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it-IT" sz="2400" b="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it-IT" sz="2400" b="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𝑀</m:t>
                                </m:r>
                                <m:r>
                                  <a:rPr lang="it-IT" sz="2400" b="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  <m:e>
                            <m:sSub>
                              <m:sSubPr>
                                <m:ctrlPr>
                                  <a:rPr lang="it-IT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it-IT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it-IT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  <a:r>
                  <a:rPr lang="it-IT" sz="2400" noProof="0" dirty="0"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e>
                      <m:sub>
                        <m: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𝑝</m:t>
                        </m:r>
                      </m:sub>
                    </m:sSub>
                    <m:r>
                      <a:rPr lang="it-IT" sz="2400" b="0" i="1" noProof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it-IT" sz="24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it-IT" sz="2400" b="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it-IT" sz="2400" b="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it-IT" sz="2400" b="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it-IT" sz="2400" b="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𝑀</m:t>
                                </m:r>
                                <m:r>
                                  <a:rPr lang="it-IT" sz="2400" b="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  <m:e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  <m:e>
                            <m:sSub>
                              <m:sSubPr>
                                <m:ctrlPr>
                                  <a:rPr lang="it-IT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it-IT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it-IT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  <a:r>
                  <a:rPr lang="it-IT" sz="2400" noProof="0" dirty="0"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e>
                      <m:sub>
                        <m: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𝑝</m:t>
                        </m:r>
                      </m:sub>
                    </m:sSub>
                    <m:r>
                      <a:rPr lang="it-IT" sz="2400" b="0" i="1" noProof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it-IT" sz="180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it-IT" sz="1800" b="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it-IT" sz="1800" b="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it-IT" sz="180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it-IT" sz="1800" b="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it-IT" sz="1800" b="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endParaRPr lang="it-IT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it-IT" sz="2400" noProof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Where</a:t>
                </a:r>
                <a:r>
                  <a:rPr lang="it-IT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M, </a:t>
                </a:r>
                <a:r>
                  <a:rPr lang="it-IT" sz="2400" noProof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as</a:t>
                </a:r>
                <a:r>
                  <a:rPr lang="it-IT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2400" noProof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defined</a:t>
                </a:r>
                <a:r>
                  <a:rPr lang="it-IT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2400" noProof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previously</a:t>
                </a:r>
                <a:r>
                  <a:rPr lang="it-IT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it-IT" sz="2400" noProof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is</a:t>
                </a:r>
                <a:r>
                  <a:rPr lang="it-IT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the </a:t>
                </a:r>
                <a:r>
                  <a:rPr lang="it-IT" sz="2400" noProof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number</a:t>
                </a:r>
                <a:r>
                  <a:rPr lang="it-IT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of </a:t>
                </a:r>
                <a:r>
                  <a:rPr lang="it-IT" sz="2400" noProof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past</a:t>
                </a:r>
                <a:r>
                  <a:rPr lang="it-IT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data points.</a:t>
                </a:r>
              </a:p>
              <a:p>
                <a:pPr algn="just"/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cost </a:t>
                </a:r>
                <a:r>
                  <a:rPr lang="it-I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function</a:t>
                </a: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J can </a:t>
                </a:r>
                <a:r>
                  <a:rPr lang="it-I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now</a:t>
                </a: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be </a:t>
                </a:r>
                <a:r>
                  <a:rPr lang="it-I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rewritten</a:t>
                </a: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as</a:t>
                </a: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𝐽</m:t>
                      </m:r>
                      <m:r>
                        <a:rPr lang="it-IT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it-IT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it-IT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it-IT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it-IT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it-IT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  <m:sup/>
                          </m:sSubSup>
                          <m:sSubSup>
                            <m:sSubSupPr>
                              <m:ctrlPr>
                                <a:rPr lang="it-IT" sz="1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it-IT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it-IT" sz="16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  <m:sup/>
                          </m:sSubSup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it-IT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it-IT" sz="16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it-IT" sz="16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  <m:sup/>
                          </m:sSubSup>
                          <m:sSubSup>
                            <m:sSubSupPr>
                              <m:ctrlPr>
                                <a:rPr lang="it-IT" sz="1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it-IT" sz="16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it-IT" sz="16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  <m:sup/>
                          </m:sSubSup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it-IT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it-IT" sz="16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it-IT" sz="16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  <m:sup/>
                          </m:sSubSup>
                          <m:r>
                            <a:rPr lang="it-IT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)</m:t>
                          </m:r>
                        </m:e>
                        <m:sup>
                          <m:r>
                            <a:rPr lang="it-IT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𝑇</m:t>
                          </m:r>
                        </m:sup>
                      </m:sSup>
                      <m:r>
                        <a:rPr lang="it-IT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𝑄</m:t>
                      </m:r>
                      <m:r>
                        <a:rPr lang="it-IT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sSubSup>
                        <m:sSubSupPr>
                          <m:ctrlPr>
                            <a:rPr lang="it-IT" sz="2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it-IT" sz="2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𝐿</m:t>
                          </m:r>
                        </m:e>
                        <m:sub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  <m:sup/>
                      </m:sSubSup>
                      <m:sSubSup>
                        <m:sSubSupPr>
                          <m:ctrlPr>
                            <a:rPr lang="it-IT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/>
                      </m:sSubSup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  <m:sup/>
                      </m:sSubSup>
                      <m:sSubSup>
                        <m:sSubSupPr>
                          <m:ctrlPr>
                            <a:rPr lang="it-IT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  <m:sup/>
                      </m:sSubSup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  <m:sup/>
                      </m:sSubSup>
                      <m:r>
                        <a:rPr lang="it-IT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)+</m:t>
                      </m:r>
                      <m:sSubSup>
                        <m:sSubSupPr>
                          <m:ctrlPr>
                            <a:rPr lang="it-IT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it-IT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it-IT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</m:sub>
                        <m:sup>
                          <m:r>
                            <a:rPr lang="it-IT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𝑇</m:t>
                          </m:r>
                        </m:sup>
                      </m:sSubSup>
                      <m:r>
                        <a:rPr lang="it-IT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𝑅</m:t>
                      </m:r>
                      <m:sSub>
                        <m:sSubPr>
                          <m:ctrlPr>
                            <a:rPr lang="it-IT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it-IT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it-IT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it-IT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0367F24C-DB9D-043A-C3E0-240A6426CF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" y="1191645"/>
                <a:ext cx="10744200" cy="4873001"/>
              </a:xfrm>
              <a:prstGeom prst="rect">
                <a:avLst/>
              </a:prstGeom>
              <a:blipFill>
                <a:blip r:embed="rId3"/>
                <a:stretch>
                  <a:fillRect l="-908" t="-1000" r="-85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16299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2A103-772A-6F4E-43CD-BAD0F96AE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EB99D7A1-39CC-A3DC-F5B5-B982E0711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457200"/>
            <a:ext cx="9691687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Proposed solution – Control</a:t>
            </a:r>
            <a:r>
              <a:rPr lang="en-GB" dirty="0">
                <a:latin typeface="Arial Black" panose="020B0A04020102020204" pitchFamily="34" charset="0"/>
              </a:rPr>
              <a:t> step 2</a:t>
            </a:r>
            <a:endParaRPr lang="en-GB" noProof="0" dirty="0">
              <a:latin typeface="Arial Black" panose="020B0A040201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1AD414A0-A715-1469-0125-37B4B3F31316}"/>
                  </a:ext>
                </a:extLst>
              </p:cNvPr>
              <p:cNvSpPr txBox="1"/>
              <p:nvPr/>
            </p:nvSpPr>
            <p:spPr>
              <a:xfrm>
                <a:off x="723900" y="1191645"/>
                <a:ext cx="10744200" cy="31138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Now, </a:t>
                </a:r>
                <a:r>
                  <a:rPr lang="it-I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we</a:t>
                </a: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can </a:t>
                </a:r>
                <a:r>
                  <a:rPr lang="it-I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implement</a:t>
                </a: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the first </a:t>
                </a:r>
                <a:r>
                  <a:rPr lang="it-I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imput</a:t>
                </a: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e>
                      <m:sub>
                        <m: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, of the SPC controller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e>
                      <m:sub>
                        <m: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it-I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that</a:t>
                </a: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can be </a:t>
                </a:r>
                <a:r>
                  <a:rPr lang="it-I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computed</a:t>
                </a: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as</a:t>
                </a: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pPr algn="just"/>
                <a:endParaRPr lang="it-IT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40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</m:sub>
                      </m:sSub>
                      <m:r>
                        <a:rPr lang="it-IT" sz="2400" b="0" i="1" noProof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it-IT" sz="24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it-IT" sz="24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𝑅</m:t>
                              </m:r>
                              <m:r>
                                <a:rPr lang="it-IT" sz="24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it-IT" sz="24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it-IT" sz="24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it-IT" sz="24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𝑢</m:t>
                                  </m:r>
                                </m:sub>
                                <m:sup>
                                  <m:r>
                                    <a:rPr lang="it-IT" sz="24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𝑇</m:t>
                                  </m:r>
                                </m:sup>
                              </m:sSubSup>
                              <m:r>
                                <a:rPr lang="it-IT" sz="24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𝑄</m:t>
                              </m:r>
                              <m:sSub>
                                <m:sSubPr>
                                  <m:ctrlPr>
                                    <a:rPr lang="it-IT" sz="24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24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it-IT" sz="24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𝑢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−1</m:t>
                          </m:r>
                        </m:sup>
                      </m:sSup>
                      <m:sSubSup>
                        <m:sSubSupPr>
                          <m:ctrlP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𝐿</m:t>
                          </m:r>
                        </m:e>
                        <m:sub>
                          <m: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sub>
                        <m:sup>
                          <m: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𝑇</m:t>
                          </m:r>
                        </m:sup>
                      </m:sSubSup>
                      <m:r>
                        <a:rPr lang="it-IT" sz="2400" b="0" i="1" noProof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𝑄</m:t>
                      </m:r>
                      <m:r>
                        <a:rPr lang="it-IT" sz="2400" b="0" i="1" noProof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𝑟</m:t>
                          </m:r>
                        </m:e>
                        <m:sub>
                          <m: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</m:sub>
                      </m:sSub>
                      <m:r>
                        <a:rPr lang="it-IT" sz="2400" b="0" i="1" noProof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sSub>
                        <m:sSubPr>
                          <m:ctrlP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𝐿</m:t>
                          </m:r>
                        </m:e>
                        <m:sub>
                          <m: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</m:sub>
                      </m:sSub>
                      <m:sSub>
                        <m:sSubPr>
                          <m:ctrlP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</m:sub>
                      </m:sSub>
                      <m:r>
                        <a:rPr lang="it-IT" sz="2400" b="0" i="1" noProof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it-IT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it-IT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it-IT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And </a:t>
                </a:r>
                <a:r>
                  <a:rPr lang="it-IT" sz="2400" noProof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then</a:t>
                </a:r>
                <a:r>
                  <a:rPr lang="it-IT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2400" noProof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repeat</a:t>
                </a: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these</a:t>
                </a: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last </a:t>
                </a:r>
                <a:r>
                  <a:rPr lang="it-I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two</a:t>
                </a: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steps </a:t>
                </a:r>
                <a:r>
                  <a:rPr lang="it-I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iteratively</a:t>
                </a: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to </a:t>
                </a:r>
                <a:r>
                  <a:rPr lang="it-I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implement</a:t>
                </a: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the following control steps, </a:t>
                </a:r>
                <a:r>
                  <a:rPr lang="it-I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using</a:t>
                </a: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the </a:t>
                </a:r>
                <a:r>
                  <a:rPr lang="it-I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newly</a:t>
                </a: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measured</a:t>
                </a: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output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it-IT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1AD414A0-A715-1469-0125-37B4B3F313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" y="1191645"/>
                <a:ext cx="10744200" cy="3113866"/>
              </a:xfrm>
              <a:prstGeom prst="rect">
                <a:avLst/>
              </a:prstGeom>
              <a:blipFill>
                <a:blip r:embed="rId2"/>
                <a:stretch>
                  <a:fillRect l="-908" t="-1370" r="-1589" b="-352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11247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5A212-F7F3-E3A6-4384-717E60898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8895E181-0BB5-68A0-F54D-4F4FCCFB8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8991600" cy="1077218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Practical implementation – </a:t>
            </a:r>
            <a:br>
              <a:rPr lang="en-GB" noProof="0" dirty="0">
                <a:latin typeface="Arial Black" panose="020B0A04020102020204" pitchFamily="34" charset="0"/>
              </a:rPr>
            </a:br>
            <a:endParaRPr lang="en-GB" noProof="0" dirty="0">
              <a:latin typeface="Arial Black" panose="020B0A04020102020204" pitchFamily="34" charset="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E214AF7-BD5F-1697-AC34-4C091718BD70}"/>
              </a:ext>
            </a:extLst>
          </p:cNvPr>
          <p:cNvSpPr txBox="1"/>
          <p:nvPr/>
        </p:nvSpPr>
        <p:spPr>
          <a:xfrm>
            <a:off x="762000" y="1676400"/>
            <a:ext cx="9677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GB" sz="2400" i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44305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FD052-A6E4-4EA3-40C9-0D7F9ED82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14853C74-3D76-BB45-5EBD-2082D50CC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8991600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Results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2E4F1D8-6E3E-1635-DEBC-9C2A6FBDE9CC}"/>
              </a:ext>
            </a:extLst>
          </p:cNvPr>
          <p:cNvSpPr txBox="1"/>
          <p:nvPr/>
        </p:nvSpPr>
        <p:spPr>
          <a:xfrm>
            <a:off x="762000" y="1676400"/>
            <a:ext cx="9677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GB" sz="2400" i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4619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E75B6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</TotalTime>
  <Words>790</Words>
  <Application>Microsoft Office PowerPoint</Application>
  <PresentationFormat>Widescreen</PresentationFormat>
  <Paragraphs>97</Paragraphs>
  <Slides>14</Slides>
  <Notes>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21" baseType="lpstr">
      <vt:lpstr>Aptos</vt:lpstr>
      <vt:lpstr>Arial</vt:lpstr>
      <vt:lpstr>Arial Black</vt:lpstr>
      <vt:lpstr>Cambria Math</vt:lpstr>
      <vt:lpstr>Franklin Gothic Medium</vt:lpstr>
      <vt:lpstr>Trebuchet MS</vt:lpstr>
      <vt:lpstr>Office Theme</vt:lpstr>
      <vt:lpstr>SPC: Subspace Predictive Control  Presentation for the course Adaptive Learning, Estimation and Supervision of dynamical systems (ALES)</vt:lpstr>
      <vt:lpstr>Selected paper</vt:lpstr>
      <vt:lpstr>Context of application</vt:lpstr>
      <vt:lpstr>System model</vt:lpstr>
      <vt:lpstr>Block Hankel matrices definition</vt:lpstr>
      <vt:lpstr>Subspace solution – Step 1</vt:lpstr>
      <vt:lpstr>Subspace solution – Step 2</vt:lpstr>
      <vt:lpstr>Proposed solution –   Defining the predictor and LS problem</vt:lpstr>
      <vt:lpstr>Proposed solution – MPC problem</vt:lpstr>
      <vt:lpstr>Proposed solution – Principle of MPC</vt:lpstr>
      <vt:lpstr>Proposed solution – Control step 1</vt:lpstr>
      <vt:lpstr>Proposed solution – Control step 2</vt:lpstr>
      <vt:lpstr>Practical implementation –  </vt:lpstr>
      <vt:lpstr>Results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Gabriele Mazzoleni</dc:creator>
  <cp:lastModifiedBy>Gaetano Comandatore</cp:lastModifiedBy>
  <cp:revision>178</cp:revision>
  <dcterms:created xsi:type="dcterms:W3CDTF">2025-06-12T18:24:46Z</dcterms:created>
  <dcterms:modified xsi:type="dcterms:W3CDTF">2025-12-28T17:36:45Z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2025-02-24T00:00:00Z</vt:filetime>
  </property>
  <property fmtid="{D5CDD505-2E9C-101B-9397-08002B2CF9AE}" pid="3" name="LastSaved">
    <vt:filetime>2025-06-12T00:00:00Z</vt:filetime>
  </property>
  <property fmtid="{D5CDD505-2E9C-101B-9397-08002B2CF9AE}" pid="4" name="Producer">
    <vt:lpwstr>macOS Versione 15.3.1 (Build 24D70) Quartz PDFContext</vt:lpwstr>
  </property>
</Properties>
</file>