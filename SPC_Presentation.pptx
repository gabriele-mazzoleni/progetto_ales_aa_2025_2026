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336" r:id="rId3"/>
    <p:sldId id="351" r:id="rId4"/>
    <p:sldId id="352" r:id="rId5"/>
    <p:sldId id="353" r:id="rId6"/>
    <p:sldId id="337" r:id="rId7"/>
    <p:sldId id="338" r:id="rId8"/>
    <p:sldId id="341" r:id="rId9"/>
    <p:sldId id="342" r:id="rId10"/>
    <p:sldId id="343" r:id="rId11"/>
    <p:sldId id="344" r:id="rId12"/>
    <p:sldId id="345" r:id="rId13"/>
    <p:sldId id="350" r:id="rId14"/>
    <p:sldId id="349" r:id="rId15"/>
    <p:sldId id="346" r:id="rId16"/>
    <p:sldId id="339" r:id="rId17"/>
    <p:sldId id="340" r:id="rId18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84" autoAdjust="0"/>
    <p:restoredTop sz="94660"/>
  </p:normalViewPr>
  <p:slideViewPr>
    <p:cSldViewPr>
      <p:cViewPr varScale="1">
        <p:scale>
          <a:sx n="90" d="100"/>
          <a:sy n="90" d="100"/>
        </p:scale>
        <p:origin x="466" y="6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CF3C78-BFF9-4137-8833-13E3D0B09D8B}" type="datetimeFigureOut">
              <a:rPr lang="it-IT" smtClean="0"/>
              <a:t>29/12/2025</a:t>
            </a:fld>
            <a:endParaRPr lang="it-IT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dirty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18F9A5-25D9-4BE4-92E4-0A5AF102D313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69277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18F9A5-25D9-4BE4-92E4-0A5AF102D313}" type="slidenum">
              <a:rPr lang="it-IT" smtClean="0"/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523833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8E37A-E5AE-3B54-30F2-2CD2A87C0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C917A1C-85FF-0465-0699-015D7F560C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983BAA2-E359-E754-7AC0-F926400E73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3C5438E-F049-C5EF-C495-53D6E6584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18F9A5-25D9-4BE4-92E4-0A5AF102D313}" type="slidenum">
              <a:rPr lang="it-IT" smtClean="0"/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232877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18F9A5-25D9-4BE4-92E4-0A5AF102D313}" type="slidenum">
              <a:rPr lang="it-IT" smtClean="0"/>
              <a:t>14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8079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12/29/2025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12/29/2025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12/29/2025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12/29/2025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12/29/2025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762000" y="3"/>
            <a:ext cx="2564130" cy="127000"/>
          </a:xfrm>
          <a:custGeom>
            <a:avLst/>
            <a:gdLst/>
            <a:ahLst/>
            <a:cxnLst/>
            <a:rect l="l" t="t" r="r" b="b"/>
            <a:pathLst>
              <a:path w="2564129" h="127000">
                <a:moveTo>
                  <a:pt x="2563990" y="0"/>
                </a:moveTo>
                <a:lnTo>
                  <a:pt x="0" y="0"/>
                </a:lnTo>
                <a:lnTo>
                  <a:pt x="0" y="126996"/>
                </a:lnTo>
                <a:lnTo>
                  <a:pt x="2563990" y="126996"/>
                </a:lnTo>
                <a:lnTo>
                  <a:pt x="2563990" y="0"/>
                </a:lnTo>
                <a:close/>
              </a:path>
            </a:pathLst>
          </a:custGeom>
          <a:solidFill>
            <a:srgbClr val="CA6743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6096000"/>
            <a:ext cx="12191998" cy="761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651547" y="65532"/>
            <a:ext cx="7619763" cy="101752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84024" y="2064003"/>
            <a:ext cx="9448165" cy="26054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12/29/2025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0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1998" cy="685164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8605154" y="3021076"/>
            <a:ext cx="3434445" cy="6873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GB" sz="1200" spc="-10" noProof="0" dirty="0">
                <a:solidFill>
                  <a:srgbClr val="426EB0"/>
                </a:solidFill>
                <a:latin typeface="Franklin Gothic Medium"/>
                <a:cs typeface="Franklin Gothic Medium"/>
              </a:rPr>
              <a:t>Students</a:t>
            </a:r>
            <a:endParaRPr lang="en-GB" sz="1200" noProof="0" dirty="0">
              <a:latin typeface="Franklin Gothic Medium"/>
              <a:cs typeface="Franklin Gothic Medium"/>
            </a:endParaRPr>
          </a:p>
          <a:p>
            <a:pPr marL="12700"/>
            <a:r>
              <a:rPr lang="en-GB" sz="1600" noProof="0" dirty="0">
                <a:solidFill>
                  <a:srgbClr val="FFFFFF"/>
                </a:solidFill>
                <a:latin typeface="Franklin Gothic Medium"/>
                <a:cs typeface="Franklin Gothic Medium"/>
              </a:rPr>
              <a:t>Mazzoleni Gabriele - 1079514</a:t>
            </a:r>
            <a:endParaRPr lang="en-GB" sz="1600" noProof="0" dirty="0">
              <a:latin typeface="Franklin Gothic Medium"/>
              <a:cs typeface="Franklin Gothic Medium"/>
            </a:endParaRPr>
          </a:p>
          <a:p>
            <a:pPr marL="12700"/>
            <a:r>
              <a:rPr lang="en-GB" sz="1600" noProof="0" dirty="0">
                <a:solidFill>
                  <a:srgbClr val="FFFFFF"/>
                </a:solidFill>
                <a:latin typeface="Franklin Gothic Medium"/>
                <a:cs typeface="Franklin Gothic Medium"/>
              </a:rPr>
              <a:t>Comandatore Gaetano- 1090952</a:t>
            </a:r>
            <a:endParaRPr lang="en-GB" sz="1600" noProof="0" dirty="0">
              <a:latin typeface="Franklin Gothic Medium"/>
              <a:cs typeface="Franklin Gothic Medium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607347" y="2743200"/>
            <a:ext cx="2289253" cy="201337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GB" sz="1200" noProof="0" dirty="0">
                <a:solidFill>
                  <a:srgbClr val="C96643"/>
                </a:solidFill>
                <a:latin typeface="Franklin Gothic Medium"/>
                <a:cs typeface="Franklin Gothic Medium"/>
              </a:rPr>
              <a:t>Computer science engineering</a:t>
            </a:r>
            <a:endParaRPr lang="en-GB" sz="1200" noProof="0" dirty="0">
              <a:latin typeface="Franklin Gothic Medium"/>
              <a:cs typeface="Franklin Gothic Medium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853566" y="2560827"/>
            <a:ext cx="6456190" cy="241348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3200" b="0" noProof="0" dirty="0">
                <a:solidFill>
                  <a:srgbClr val="FFFFFF"/>
                </a:solidFill>
                <a:latin typeface="Arial Black"/>
              </a:rPr>
              <a:t>SPC: Subspace Predictive Control</a:t>
            </a:r>
            <a:br>
              <a:rPr lang="en-GB" sz="3200" b="0" noProof="0" dirty="0">
                <a:solidFill>
                  <a:srgbClr val="FFFFFF"/>
                </a:solidFill>
                <a:latin typeface="Arial Black"/>
              </a:rPr>
            </a:br>
            <a:br>
              <a:rPr lang="en-GB" sz="3200" b="0" noProof="0" dirty="0">
                <a:solidFill>
                  <a:srgbClr val="FFFFFF"/>
                </a:solidFill>
                <a:latin typeface="Arial Black"/>
              </a:rPr>
            </a:br>
            <a:r>
              <a:rPr lang="en-GB" sz="2000" b="0" noProof="0" dirty="0">
                <a:solidFill>
                  <a:srgbClr val="FFFFFF"/>
                </a:solidFill>
                <a:latin typeface="Arial Black"/>
              </a:rPr>
              <a:t>Presentation for the course Adaptive Learning, Estimation and Supervision of dynamical systems (ALES)</a:t>
            </a:r>
            <a:endParaRPr lang="en-GB" sz="3200" b="0" noProof="0" dirty="0">
              <a:solidFill>
                <a:srgbClr val="FFFFFF"/>
              </a:solidFill>
              <a:latin typeface="Arial Black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53566" y="5410200"/>
            <a:ext cx="35598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2400" noProof="0" dirty="0">
                <a:solidFill>
                  <a:srgbClr val="FFFFFF"/>
                </a:solidFill>
                <a:latin typeface="Arial Black"/>
                <a:cs typeface="Arial Black"/>
              </a:rPr>
              <a:t>A.Y. 2025/2026</a:t>
            </a:r>
            <a:endParaRPr lang="en-GB" sz="2400" noProof="0" dirty="0">
              <a:latin typeface="Arial Black"/>
              <a:cs typeface="Arial Blac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BBF1D-1F5E-BF87-3774-E0C37D0EA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649BF47E-C162-179C-D3F1-281638D0D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Selected paper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610EBCA-39BF-8FE7-E254-D5B99F97EE2E}"/>
              </a:ext>
            </a:extLst>
          </p:cNvPr>
          <p:cNvSpPr txBox="1"/>
          <p:nvPr/>
        </p:nvSpPr>
        <p:spPr>
          <a:xfrm>
            <a:off x="762000" y="1676400"/>
            <a:ext cx="96774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following presentation as an analysis and implementation of the contents of 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“SPC: Subspace Prediction Control”,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by Wouter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Favoreel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, Bart De Moor and Michel Gevers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This paper aims to 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“combine Subspace Identification and Model Predictive Control methods in a very elegant </a:t>
            </a:r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w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ay to form a numerically robust and easily implementable control/identification algorithm”. 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105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B4237-90FC-959B-4E4B-A55BCCC7D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ttangolo 28">
            <a:extLst>
              <a:ext uri="{FF2B5EF4-FFF2-40B4-BE49-F238E27FC236}">
                <a16:creationId xmlns:a16="http://schemas.microsoft.com/office/drawing/2014/main" id="{0EB02C55-AC48-5461-EF98-DFC95274D183}"/>
              </a:ext>
            </a:extLst>
          </p:cNvPr>
          <p:cNvSpPr/>
          <p:nvPr/>
        </p:nvSpPr>
        <p:spPr>
          <a:xfrm>
            <a:off x="23748" y="826533"/>
            <a:ext cx="7901049" cy="5180629"/>
          </a:xfrm>
          <a:prstGeom prst="rect">
            <a:avLst/>
          </a:prstGeom>
          <a:solidFill>
            <a:srgbClr val="FF0000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it-IT" sz="2800" b="1" dirty="0">
                <a:solidFill>
                  <a:schemeClr val="tx1"/>
                </a:solidFill>
                <a:latin typeface="Arial Black" panose="020B0A04020102020204" pitchFamily="34" charset="0"/>
              </a:rPr>
              <a:t>SUBSPACE STATE IDENTIFICATION</a:t>
            </a:r>
          </a:p>
        </p:txBody>
      </p:sp>
      <p:sp>
        <p:nvSpPr>
          <p:cNvPr id="28" name="Rettangolo 27">
            <a:extLst>
              <a:ext uri="{FF2B5EF4-FFF2-40B4-BE49-F238E27FC236}">
                <a16:creationId xmlns:a16="http://schemas.microsoft.com/office/drawing/2014/main" id="{923B50BC-2E54-C37B-70FE-67EDAF4E7B13}"/>
              </a:ext>
            </a:extLst>
          </p:cNvPr>
          <p:cNvSpPr/>
          <p:nvPr/>
        </p:nvSpPr>
        <p:spPr>
          <a:xfrm>
            <a:off x="9144002" y="85477"/>
            <a:ext cx="2899571" cy="5632621"/>
          </a:xfrm>
          <a:prstGeom prst="rect">
            <a:avLst/>
          </a:prstGeom>
          <a:solidFill>
            <a:srgbClr val="33CCFF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it-IT" sz="2800" b="1" dirty="0">
                <a:solidFill>
                  <a:schemeClr val="tx1"/>
                </a:solidFill>
                <a:latin typeface="Arial Black" panose="020B0A04020102020204" pitchFamily="34" charset="0"/>
              </a:rPr>
              <a:t>MPC</a:t>
            </a:r>
          </a:p>
        </p:txBody>
      </p:sp>
      <p:sp>
        <p:nvSpPr>
          <p:cNvPr id="10" name="Titolo 9">
            <a:extLst>
              <a:ext uri="{FF2B5EF4-FFF2-40B4-BE49-F238E27FC236}">
                <a16:creationId xmlns:a16="http://schemas.microsoft.com/office/drawing/2014/main" id="{9F3D3F09-A488-FAAB-A92E-87727F48B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215357"/>
            <a:ext cx="4190997" cy="495300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The References </a:t>
            </a:r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30C82118-00A3-781B-A170-7895C80F3F95}"/>
              </a:ext>
            </a:extLst>
          </p:cNvPr>
          <p:cNvCxnSpPr>
            <a:cxnSpLocks/>
          </p:cNvCxnSpPr>
          <p:nvPr/>
        </p:nvCxnSpPr>
        <p:spPr>
          <a:xfrm>
            <a:off x="8674208" y="990600"/>
            <a:ext cx="0" cy="4724400"/>
          </a:xfrm>
          <a:prstGeom prst="line">
            <a:avLst/>
          </a:prstGeom>
          <a:ln w="19050"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umetto: rettangolo 6">
            <a:extLst>
              <a:ext uri="{FF2B5EF4-FFF2-40B4-BE49-F238E27FC236}">
                <a16:creationId xmlns:a16="http://schemas.microsoft.com/office/drawing/2014/main" id="{0A35E63F-B149-6568-0798-432DCCE9CC2D}"/>
              </a:ext>
            </a:extLst>
          </p:cNvPr>
          <p:cNvSpPr/>
          <p:nvPr/>
        </p:nvSpPr>
        <p:spPr>
          <a:xfrm>
            <a:off x="148427" y="1353266"/>
            <a:ext cx="7467599" cy="538609"/>
          </a:xfrm>
          <a:prstGeom prst="wedgeRectCallout">
            <a:avLst>
              <a:gd name="adj1" fmla="val 58863"/>
              <a:gd name="adj2" fmla="val 43219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noProof="0" dirty="0">
                <a:solidFill>
                  <a:sysClr val="windowText" lastClr="000000"/>
                </a:solidFill>
                <a:latin typeface="+mn-lt"/>
                <a:ea typeface="+mn-ea"/>
                <a:cs typeface="+mn-cs"/>
              </a:rPr>
              <a:t>Cutler, C.R. and B.L. Ramaker. </a:t>
            </a:r>
          </a:p>
          <a:p>
            <a:r>
              <a:rPr lang="en-US" sz="1800" noProof="0" dirty="0">
                <a:solidFill>
                  <a:sysClr val="windowText" lastClr="000000"/>
                </a:solidFill>
                <a:latin typeface="+mn-lt"/>
                <a:ea typeface="+mn-ea"/>
                <a:cs typeface="+mn-cs"/>
              </a:rPr>
              <a:t>Dynamic matrix control - a computer control algorithm.</a:t>
            </a:r>
          </a:p>
        </p:txBody>
      </p:sp>
      <p:sp>
        <p:nvSpPr>
          <p:cNvPr id="8" name="Fumetto: rettangolo 7">
            <a:extLst>
              <a:ext uri="{FF2B5EF4-FFF2-40B4-BE49-F238E27FC236}">
                <a16:creationId xmlns:a16="http://schemas.microsoft.com/office/drawing/2014/main" id="{4FCD946C-6CD6-1DE5-255E-A43FAE28C7FC}"/>
              </a:ext>
            </a:extLst>
          </p:cNvPr>
          <p:cNvSpPr/>
          <p:nvPr/>
        </p:nvSpPr>
        <p:spPr>
          <a:xfrm>
            <a:off x="148427" y="4672122"/>
            <a:ext cx="7467597" cy="538609"/>
          </a:xfrm>
          <a:prstGeom prst="wedgeRectCallout">
            <a:avLst>
              <a:gd name="adj1" fmla="val 58756"/>
              <a:gd name="adj2" fmla="val 37313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 Moor, B., P. Van </a:t>
            </a:r>
            <a:r>
              <a:rPr lang="en-US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Overschee</a:t>
            </a:r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W. </a:t>
            </a:r>
            <a:r>
              <a:rPr lang="en-US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Favoreel</a:t>
            </a:r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 </a:t>
            </a:r>
            <a:r>
              <a:rPr lang="en-US" sz="1800" i="1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Numerical algorithms for subspace state space system</a:t>
            </a:r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800" i="1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identification </a:t>
            </a:r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– </a:t>
            </a:r>
            <a:r>
              <a:rPr lang="en-US" sz="1800" i="1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 overview.</a:t>
            </a:r>
            <a:endParaRPr lang="en-US" sz="180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umetto: rettangolo 8">
            <a:extLst>
              <a:ext uri="{FF2B5EF4-FFF2-40B4-BE49-F238E27FC236}">
                <a16:creationId xmlns:a16="http://schemas.microsoft.com/office/drawing/2014/main" id="{A16D2549-C407-C286-9D4A-D13C3E190541}"/>
              </a:ext>
            </a:extLst>
          </p:cNvPr>
          <p:cNvSpPr/>
          <p:nvPr/>
        </p:nvSpPr>
        <p:spPr>
          <a:xfrm>
            <a:off x="148427" y="5334000"/>
            <a:ext cx="7467593" cy="538609"/>
          </a:xfrm>
          <a:prstGeom prst="wedgeRectCallout">
            <a:avLst>
              <a:gd name="adj1" fmla="val 59289"/>
              <a:gd name="adj2" fmla="val -37903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Favoreel</a:t>
            </a:r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W., B. De Moor and P. Van </a:t>
            </a:r>
            <a:r>
              <a:rPr lang="en-US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Overschee</a:t>
            </a:r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. </a:t>
            </a:r>
          </a:p>
          <a:p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Subspace state system identification for industrial processes.</a:t>
            </a:r>
          </a:p>
        </p:txBody>
      </p:sp>
      <p:sp>
        <p:nvSpPr>
          <p:cNvPr id="11" name="Fumetto: rettangolo 10">
            <a:extLst>
              <a:ext uri="{FF2B5EF4-FFF2-40B4-BE49-F238E27FC236}">
                <a16:creationId xmlns:a16="http://schemas.microsoft.com/office/drawing/2014/main" id="{20BE262C-2E80-2CE4-27C5-24E8849F655A}"/>
              </a:ext>
            </a:extLst>
          </p:cNvPr>
          <p:cNvSpPr/>
          <p:nvPr/>
        </p:nvSpPr>
        <p:spPr>
          <a:xfrm>
            <a:off x="9364547" y="3364680"/>
            <a:ext cx="2554347" cy="1518791"/>
          </a:xfrm>
          <a:prstGeom prst="wedgeRectCallout">
            <a:avLst>
              <a:gd name="adj1" fmla="val -61979"/>
              <a:gd name="adj2" fmla="val -87367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18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Garcia, C.E., D.M. </a:t>
            </a:r>
            <a:r>
              <a:rPr lang="it-IT" sz="18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Prett</a:t>
            </a:r>
            <a:r>
              <a:rPr lang="it-IT" sz="18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M. </a:t>
            </a:r>
            <a:r>
              <a:rPr lang="it-IT" sz="18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Morari</a:t>
            </a:r>
            <a:r>
              <a:rPr lang="it-IT" sz="18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 </a:t>
            </a:r>
          </a:p>
          <a:p>
            <a:r>
              <a:rPr lang="en-US" sz="18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Model predictive control: Theory and practice </a:t>
            </a:r>
            <a:r>
              <a:rPr lang="it-IT" sz="18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 a survey.</a:t>
            </a:r>
            <a:endParaRPr lang="en-US" sz="180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umetto: rettangolo 11">
            <a:extLst>
              <a:ext uri="{FF2B5EF4-FFF2-40B4-BE49-F238E27FC236}">
                <a16:creationId xmlns:a16="http://schemas.microsoft.com/office/drawing/2014/main" id="{D6075689-7CCF-E3BD-153A-F8206D37651E}"/>
              </a:ext>
            </a:extLst>
          </p:cNvPr>
          <p:cNvSpPr/>
          <p:nvPr/>
        </p:nvSpPr>
        <p:spPr>
          <a:xfrm>
            <a:off x="9364549" y="762000"/>
            <a:ext cx="2554345" cy="1905000"/>
          </a:xfrm>
          <a:prstGeom prst="wedgeRectCallout">
            <a:avLst>
              <a:gd name="adj1" fmla="val -62601"/>
              <a:gd name="adj2" fmla="val -14058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Richalet</a:t>
            </a:r>
            <a:r>
              <a:rPr lang="en-US" dirty="0">
                <a:solidFill>
                  <a:schemeClr val="tx1"/>
                </a:solidFill>
              </a:rPr>
              <a:t>,</a:t>
            </a:r>
            <a:r>
              <a:rPr lang="en-US" sz="18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J., A. </a:t>
            </a:r>
            <a:r>
              <a:rPr lang="en-US" sz="18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R,ault</a:t>
            </a:r>
            <a:r>
              <a:rPr lang="en-US" sz="18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J.L·. </a:t>
            </a:r>
            <a:r>
              <a:rPr lang="en-US" sz="18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Testud</a:t>
            </a:r>
            <a:r>
              <a:rPr lang="en-US" sz="18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J. Papon. </a:t>
            </a:r>
            <a:r>
              <a:rPr lang="en-US" dirty="0">
                <a:solidFill>
                  <a:schemeClr val="tx1"/>
                </a:solidFill>
              </a:rPr>
              <a:t>M</a:t>
            </a:r>
            <a:r>
              <a:rPr lang="en-US" sz="18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odel predictive heuristic control: Applications to industrial processes.</a:t>
            </a:r>
            <a:endParaRPr lang="en-US" sz="180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umetto: rettangolo 12">
            <a:extLst>
              <a:ext uri="{FF2B5EF4-FFF2-40B4-BE49-F238E27FC236}">
                <a16:creationId xmlns:a16="http://schemas.microsoft.com/office/drawing/2014/main" id="{65F65FB3-78B1-807B-83F8-318DF3F2C7EA}"/>
              </a:ext>
            </a:extLst>
          </p:cNvPr>
          <p:cNvSpPr/>
          <p:nvPr/>
        </p:nvSpPr>
        <p:spPr>
          <a:xfrm>
            <a:off x="148427" y="2007751"/>
            <a:ext cx="7467593" cy="538609"/>
          </a:xfrm>
          <a:prstGeom prst="wedgeRectCallout">
            <a:avLst>
              <a:gd name="adj1" fmla="val 59289"/>
              <a:gd name="adj2" fmla="val 52149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Moonen, M., B. De Moor, L. Vandenberghe and J. Vandewalle. </a:t>
            </a:r>
          </a:p>
          <a:p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On and off-line identification of linear state space models</a:t>
            </a:r>
          </a:p>
        </p:txBody>
      </p:sp>
      <p:sp>
        <p:nvSpPr>
          <p:cNvPr id="14" name="Fumetto: rettangolo 13">
            <a:extLst>
              <a:ext uri="{FF2B5EF4-FFF2-40B4-BE49-F238E27FC236}">
                <a16:creationId xmlns:a16="http://schemas.microsoft.com/office/drawing/2014/main" id="{2C4CB1DF-86A6-2399-E229-93DEEAA3DB8E}"/>
              </a:ext>
            </a:extLst>
          </p:cNvPr>
          <p:cNvSpPr/>
          <p:nvPr/>
        </p:nvSpPr>
        <p:spPr>
          <a:xfrm>
            <a:off x="148427" y="4000766"/>
            <a:ext cx="7467593" cy="548090"/>
          </a:xfrm>
          <a:prstGeom prst="wedgeRectCallout">
            <a:avLst>
              <a:gd name="adj1" fmla="val 59396"/>
              <a:gd name="adj2" fmla="val 39985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Viberg, M., B. Wahlberg and B. </a:t>
            </a:r>
            <a:r>
              <a:rPr lang="en-US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Ottersten</a:t>
            </a:r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.Analysis of state space system identification methods based on instrumental variables and subspace fitting</a:t>
            </a:r>
          </a:p>
        </p:txBody>
      </p:sp>
      <p:sp>
        <p:nvSpPr>
          <p:cNvPr id="15" name="Fumetto: rettangolo 14">
            <a:extLst>
              <a:ext uri="{FF2B5EF4-FFF2-40B4-BE49-F238E27FC236}">
                <a16:creationId xmlns:a16="http://schemas.microsoft.com/office/drawing/2014/main" id="{EF5EA25C-0DD2-0336-2B5B-195B5A600AE9}"/>
              </a:ext>
            </a:extLst>
          </p:cNvPr>
          <p:cNvSpPr/>
          <p:nvPr/>
        </p:nvSpPr>
        <p:spPr>
          <a:xfrm>
            <a:off x="148427" y="2677016"/>
            <a:ext cx="7467593" cy="538609"/>
          </a:xfrm>
          <a:prstGeom prst="wedgeRectCallout">
            <a:avLst>
              <a:gd name="adj1" fmla="val 58757"/>
              <a:gd name="adj2" fmla="val 38863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Verhaegen, M. and P. Dewilde. Subspace identification, part I: The output-error state space model identification class of algorithms.</a:t>
            </a:r>
          </a:p>
        </p:txBody>
      </p:sp>
      <p:sp>
        <p:nvSpPr>
          <p:cNvPr id="16" name="Fumetto: rettangolo 15">
            <a:extLst>
              <a:ext uri="{FF2B5EF4-FFF2-40B4-BE49-F238E27FC236}">
                <a16:creationId xmlns:a16="http://schemas.microsoft.com/office/drawing/2014/main" id="{EF3A9DE0-8777-B5D3-5E09-8BFD229D291E}"/>
              </a:ext>
            </a:extLst>
          </p:cNvPr>
          <p:cNvSpPr/>
          <p:nvPr/>
        </p:nvSpPr>
        <p:spPr>
          <a:xfrm>
            <a:off x="148427" y="3338891"/>
            <a:ext cx="7467593" cy="538609"/>
          </a:xfrm>
          <a:prstGeom prst="wedgeRectCallout">
            <a:avLst>
              <a:gd name="adj1" fmla="val 58544"/>
              <a:gd name="adj2" fmla="val 44768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Van </a:t>
            </a:r>
            <a:r>
              <a:rPr lang="en-US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Overschee</a:t>
            </a:r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P. and B. De Moor. Subspace identification for linear systems: theory, implementation</a:t>
            </a:r>
            <a:r>
              <a:rPr lang="en-US" dirty="0">
                <a:solidFill>
                  <a:schemeClr val="tx1"/>
                </a:solidFill>
              </a:rPr>
              <a:t>,</a:t>
            </a:r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applications.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292C1AE3-7FA9-0768-49A4-A271E526485D}"/>
              </a:ext>
            </a:extLst>
          </p:cNvPr>
          <p:cNvSpPr txBox="1"/>
          <p:nvPr/>
        </p:nvSpPr>
        <p:spPr>
          <a:xfrm>
            <a:off x="8305798" y="1272897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1978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2766262C-9D4A-05F8-DC9C-B4B0EDA8A43D}"/>
              </a:ext>
            </a:extLst>
          </p:cNvPr>
          <p:cNvSpPr txBox="1"/>
          <p:nvPr/>
        </p:nvSpPr>
        <p:spPr>
          <a:xfrm>
            <a:off x="8305800" y="1840468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1979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45726C7A-C8D6-0005-4817-2E0458339F3C}"/>
              </a:ext>
            </a:extLst>
          </p:cNvPr>
          <p:cNvSpPr txBox="1"/>
          <p:nvPr/>
        </p:nvSpPr>
        <p:spPr>
          <a:xfrm>
            <a:off x="8305800" y="2438400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1989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05DD1D19-0A29-42F1-D987-F86EF816E7B9}"/>
              </a:ext>
            </a:extLst>
          </p:cNvPr>
          <p:cNvSpPr txBox="1"/>
          <p:nvPr/>
        </p:nvSpPr>
        <p:spPr>
          <a:xfrm>
            <a:off x="8305800" y="3048000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1992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AA7EA63-0756-7059-627D-91E2888DADBF}"/>
              </a:ext>
            </a:extLst>
          </p:cNvPr>
          <p:cNvSpPr txBox="1"/>
          <p:nvPr/>
        </p:nvSpPr>
        <p:spPr>
          <a:xfrm>
            <a:off x="8305800" y="3657600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1996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A592A5D6-2205-5283-1CC8-EA3227663E9D}"/>
              </a:ext>
            </a:extLst>
          </p:cNvPr>
          <p:cNvSpPr txBox="1"/>
          <p:nvPr/>
        </p:nvSpPr>
        <p:spPr>
          <a:xfrm>
            <a:off x="8305800" y="4281890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1997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5D9B5297-442E-5E98-88E0-8BF916E6EBD8}"/>
              </a:ext>
            </a:extLst>
          </p:cNvPr>
          <p:cNvSpPr txBox="1"/>
          <p:nvPr/>
        </p:nvSpPr>
        <p:spPr>
          <a:xfrm>
            <a:off x="8305800" y="5117068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1998</a:t>
            </a:r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DBFF634F-8CE1-A5A2-F8DE-FF455CB76FAC}"/>
              </a:ext>
            </a:extLst>
          </p:cNvPr>
          <p:cNvSpPr txBox="1"/>
          <p:nvPr/>
        </p:nvSpPr>
        <p:spPr>
          <a:xfrm>
            <a:off x="8305799" y="5708821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rgbClr val="FF0000"/>
                </a:solidFill>
              </a:rPr>
              <a:t>1999</a:t>
            </a:r>
          </a:p>
        </p:txBody>
      </p:sp>
    </p:spTree>
    <p:extLst>
      <p:ext uri="{BB962C8B-B14F-4D97-AF65-F5344CB8AC3E}">
        <p14:creationId xmlns:p14="http://schemas.microsoft.com/office/powerpoint/2010/main" val="9482290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9">
            <a:extLst>
              <a:ext uri="{FF2B5EF4-FFF2-40B4-BE49-F238E27FC236}">
                <a16:creationId xmlns:a16="http://schemas.microsoft.com/office/drawing/2014/main" id="{256F6C98-2463-7EF6-4F69-D74472642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1170200" cy="533401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The Idea: </a:t>
            </a:r>
            <a:r>
              <a:rPr lang="en-GB" dirty="0">
                <a:latin typeface="Arial Black" panose="020B0A04020102020204" pitchFamily="34" charset="0"/>
              </a:rPr>
              <a:t>from two</a:t>
            </a:r>
            <a:r>
              <a:rPr lang="en-GB" noProof="0" dirty="0">
                <a:latin typeface="Arial Black" panose="020B0A04020102020204" pitchFamily="34" charset="0"/>
              </a:rPr>
              <a:t> separated frameworks…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79F5A5C9-82C0-571E-BB7F-162CFFDE4BBD}"/>
              </a:ext>
            </a:extLst>
          </p:cNvPr>
          <p:cNvSpPr/>
          <p:nvPr/>
        </p:nvSpPr>
        <p:spPr>
          <a:xfrm>
            <a:off x="176793" y="1063580"/>
            <a:ext cx="5760000" cy="4651420"/>
          </a:xfrm>
          <a:prstGeom prst="rect">
            <a:avLst/>
          </a:prstGeom>
          <a:solidFill>
            <a:srgbClr val="FF0000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it-IT" sz="2800" b="1" dirty="0">
                <a:solidFill>
                  <a:schemeClr val="tx1"/>
                </a:solidFill>
                <a:latin typeface="Arial Black" panose="020B0A04020102020204" pitchFamily="34" charset="0"/>
              </a:rPr>
              <a:t>SSI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9D061AC2-4B4A-2395-3910-844D57BD6740}"/>
              </a:ext>
            </a:extLst>
          </p:cNvPr>
          <p:cNvSpPr/>
          <p:nvPr/>
        </p:nvSpPr>
        <p:spPr>
          <a:xfrm>
            <a:off x="6172200" y="1063580"/>
            <a:ext cx="5760000" cy="4651420"/>
          </a:xfrm>
          <a:prstGeom prst="rect">
            <a:avLst/>
          </a:prstGeom>
          <a:solidFill>
            <a:srgbClr val="33CCFF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it-IT" sz="2800" b="1" dirty="0">
                <a:solidFill>
                  <a:schemeClr val="tx1"/>
                </a:solidFill>
                <a:latin typeface="Arial Black" panose="020B0A04020102020204" pitchFamily="34" charset="0"/>
              </a:rPr>
              <a:t>MPC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C424220C-3218-2BC6-D984-D03966D77C24}"/>
                  </a:ext>
                </a:extLst>
              </p:cNvPr>
              <p:cNvSpPr/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solidFill>
                <a:schemeClr val="bg1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400" noProof="0" dirty="0">
                    <a:solidFill>
                      <a:sysClr val="windowText" lastClr="000000"/>
                    </a:solidFill>
                    <a:ea typeface="+mn-ea"/>
                    <a:cs typeface="+mn-cs"/>
                  </a:rPr>
                  <a:t>Data Block Hankel Matrices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𝑌</m:t>
                        </m:r>
                      </m:e>
                      <m:sub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it-IT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𝑈</m:t>
                        </m:r>
                      </m:e>
                      <m:sub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it-IT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𝑊</m:t>
                        </m:r>
                      </m:e>
                      <m:sub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</m:sub>
                    </m:sSub>
                  </m:oMath>
                </a14:m>
                <a:endParaRPr lang="it-IT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C424220C-3218-2BC6-D984-D03966D77C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blipFill>
                <a:blip r:embed="rId2"/>
                <a:stretch>
                  <a:fillRect l="-1639" t="-621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Fumetto: rettangolo 12">
            <a:extLst>
              <a:ext uri="{FF2B5EF4-FFF2-40B4-BE49-F238E27FC236}">
                <a16:creationId xmlns:a16="http://schemas.microsoft.com/office/drawing/2014/main" id="{95D29C11-9067-7ABB-2F02-2B3D35430A5C}"/>
              </a:ext>
            </a:extLst>
          </p:cNvPr>
          <p:cNvSpPr/>
          <p:nvPr/>
        </p:nvSpPr>
        <p:spPr>
          <a:xfrm>
            <a:off x="515812" y="2590800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QR and SV decomposition</a:t>
            </a:r>
            <a:endParaRPr lang="en-US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4" name="Fumetto: rettangolo 13">
            <a:extLst>
              <a:ext uri="{FF2B5EF4-FFF2-40B4-BE49-F238E27FC236}">
                <a16:creationId xmlns:a16="http://schemas.microsoft.com/office/drawing/2014/main" id="{BF4FB094-3F74-E501-2B59-EF57A102CCB3}"/>
              </a:ext>
            </a:extLst>
          </p:cNvPr>
          <p:cNvSpPr/>
          <p:nvPr/>
        </p:nvSpPr>
        <p:spPr>
          <a:xfrm>
            <a:off x="541654" y="3565497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0" dirty="0">
                <a:solidFill>
                  <a:sysClr val="windowText" lastClr="000000"/>
                </a:solidFill>
              </a:rPr>
              <a:t>State space matrices A and C calculation</a:t>
            </a:r>
            <a:endParaRPr lang="en-US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Fumetto: rettangolo 14">
                <a:extLst>
                  <a:ext uri="{FF2B5EF4-FFF2-40B4-BE49-F238E27FC236}">
                    <a16:creationId xmlns:a16="http://schemas.microsoft.com/office/drawing/2014/main" id="{403A2B70-5159-414D-0C68-B77F46BD3B9F}"/>
                  </a:ext>
                </a:extLst>
              </p:cNvPr>
              <p:cNvSpPr/>
              <p:nvPr/>
            </p:nvSpPr>
            <p:spPr>
              <a:xfrm>
                <a:off x="541653" y="4510981"/>
                <a:ext cx="5185573" cy="67061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solidFill>
                <a:schemeClr val="bg1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400" b="0" dirty="0">
                    <a:solidFill>
                      <a:sysClr val="windowText" lastClr="000000"/>
                    </a:solidFill>
                  </a:rPr>
                  <a:t>State space matrices </a:t>
                </a:r>
                <a:r>
                  <a:rPr lang="en-US" sz="2400" dirty="0">
                    <a:solidFill>
                      <a:sysClr val="windowText" lastClr="000000"/>
                    </a:solidFill>
                  </a:rPr>
                  <a:t>B and D, </a:t>
                </a:r>
                <a:br>
                  <a:rPr lang="en-US" sz="2400" dirty="0">
                    <a:solidFill>
                      <a:sysClr val="windowText" lastClr="000000"/>
                    </a:solidFill>
                  </a:rPr>
                </a:br>
                <a:r>
                  <a:rPr lang="en-US" sz="2400" dirty="0">
                    <a:solidFill>
                      <a:sysClr val="windowText" lastClr="000000"/>
                    </a:solidFill>
                  </a:rPr>
                  <a:t>initial state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it-IT" sz="2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it-IT" sz="2400" dirty="0">
                    <a:solidFill>
                      <a:sysClr val="windowText" lastClr="000000"/>
                    </a:solidFill>
                  </a:rPr>
                  <a:t> </a:t>
                </a:r>
                <a:r>
                  <a:rPr lang="en-US" sz="2400" b="0" dirty="0">
                    <a:solidFill>
                      <a:sysClr val="windowText" lastClr="000000"/>
                    </a:solidFill>
                  </a:rPr>
                  <a:t>calculation</a:t>
                </a:r>
                <a:endParaRPr lang="en-US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5" name="Fumetto: rettangolo 14">
                <a:extLst>
                  <a:ext uri="{FF2B5EF4-FFF2-40B4-BE49-F238E27FC236}">
                    <a16:creationId xmlns:a16="http://schemas.microsoft.com/office/drawing/2014/main" id="{403A2B70-5159-414D-0C68-B77F46BD3B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653" y="4510981"/>
                <a:ext cx="5185573" cy="67061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blipFill>
                <a:blip r:embed="rId3"/>
                <a:stretch>
                  <a:fillRect l="-1637" t="-9500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Fumetto: rettangolo 15">
            <a:extLst>
              <a:ext uri="{FF2B5EF4-FFF2-40B4-BE49-F238E27FC236}">
                <a16:creationId xmlns:a16="http://schemas.microsoft.com/office/drawing/2014/main" id="{B9DDAEC6-B90E-2FEE-DF11-863D80005FFB}"/>
              </a:ext>
            </a:extLst>
          </p:cNvPr>
          <p:cNvSpPr/>
          <p:nvPr/>
        </p:nvSpPr>
        <p:spPr>
          <a:xfrm>
            <a:off x="6459413" y="2514600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LS problem and Model calculation</a:t>
            </a:r>
            <a:endParaRPr lang="en-US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7" name="Fumetto: rettangolo 16">
            <a:extLst>
              <a:ext uri="{FF2B5EF4-FFF2-40B4-BE49-F238E27FC236}">
                <a16:creationId xmlns:a16="http://schemas.microsoft.com/office/drawing/2014/main" id="{80FA5187-C2DA-BD98-DE3A-2E172CDEB7A2}"/>
              </a:ext>
            </a:extLst>
          </p:cNvPr>
          <p:cNvSpPr/>
          <p:nvPr/>
        </p:nvSpPr>
        <p:spPr>
          <a:xfrm>
            <a:off x="6459412" y="3505200"/>
            <a:ext cx="5185573" cy="685801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Predictor from the model and online residual calculation</a:t>
            </a:r>
            <a:endParaRPr lang="en-US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8" name="Fumetto: rettangolo 17">
            <a:extLst>
              <a:ext uri="{FF2B5EF4-FFF2-40B4-BE49-F238E27FC236}">
                <a16:creationId xmlns:a16="http://schemas.microsoft.com/office/drawing/2014/main" id="{F699B06A-5F60-57F1-42A2-A19E4E564FDF}"/>
              </a:ext>
            </a:extLst>
          </p:cNvPr>
          <p:cNvSpPr/>
          <p:nvPr/>
        </p:nvSpPr>
        <p:spPr>
          <a:xfrm>
            <a:off x="6459411" y="4747686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Online system control</a:t>
            </a:r>
            <a:endParaRPr lang="en-US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3596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E85BD-FD0A-6CA6-17BE-FA543B3B9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904860A-4A7D-F42A-56C7-2C27837C872B}"/>
              </a:ext>
            </a:extLst>
          </p:cNvPr>
          <p:cNvSpPr/>
          <p:nvPr/>
        </p:nvSpPr>
        <p:spPr>
          <a:xfrm>
            <a:off x="176792" y="1063580"/>
            <a:ext cx="11786607" cy="4651420"/>
          </a:xfrm>
          <a:prstGeom prst="rect">
            <a:avLst/>
          </a:prstGeom>
          <a:solidFill>
            <a:srgbClr val="92D050">
              <a:alpha val="50196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it-IT" sz="2800" b="1" dirty="0">
                <a:solidFill>
                  <a:schemeClr val="tx1"/>
                </a:solidFill>
                <a:latin typeface="Arial Black" panose="020B0A04020102020204" pitchFamily="34" charset="0"/>
              </a:rPr>
              <a:t>SSI + MPC = SPC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2191F0F2-1292-4F6F-2296-37613DBAEDED}"/>
                  </a:ext>
                </a:extLst>
              </p:cNvPr>
              <p:cNvSpPr/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400" noProof="0" dirty="0">
                    <a:solidFill>
                      <a:sysClr val="windowText" lastClr="000000"/>
                    </a:solidFill>
                    <a:ea typeface="+mn-ea"/>
                    <a:cs typeface="+mn-cs"/>
                  </a:rPr>
                  <a:t>Data Block Hankel Matrices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𝑌</m:t>
                        </m:r>
                      </m:e>
                      <m:sub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it-IT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𝑈</m:t>
                        </m:r>
                      </m:e>
                      <m:sub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it-IT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𝑊</m:t>
                        </m:r>
                      </m:e>
                      <m:sub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</m:sub>
                    </m:sSub>
                  </m:oMath>
                </a14:m>
                <a:endParaRPr lang="it-IT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2191F0F2-1292-4F6F-2296-37613DBAED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blipFill>
                <a:blip r:embed="rId2"/>
                <a:stretch>
                  <a:fillRect l="-1639" t="-621"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Fumetto: rettangolo 12">
            <a:extLst>
              <a:ext uri="{FF2B5EF4-FFF2-40B4-BE49-F238E27FC236}">
                <a16:creationId xmlns:a16="http://schemas.microsoft.com/office/drawing/2014/main" id="{78EDBCA0-DEA3-B9E3-7A5B-9D8D4DE0EB13}"/>
              </a:ext>
            </a:extLst>
          </p:cNvPr>
          <p:cNvSpPr/>
          <p:nvPr/>
        </p:nvSpPr>
        <p:spPr>
          <a:xfrm>
            <a:off x="515812" y="2590800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QR and SV decomposition</a:t>
            </a:r>
            <a:endParaRPr lang="en-US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7" name="Fumetto: rettangolo 16">
            <a:extLst>
              <a:ext uri="{FF2B5EF4-FFF2-40B4-BE49-F238E27FC236}">
                <a16:creationId xmlns:a16="http://schemas.microsoft.com/office/drawing/2014/main" id="{69DDBD5B-FA39-2443-1F51-47D59956A73B}"/>
              </a:ext>
            </a:extLst>
          </p:cNvPr>
          <p:cNvSpPr/>
          <p:nvPr/>
        </p:nvSpPr>
        <p:spPr>
          <a:xfrm>
            <a:off x="6459412" y="3505200"/>
            <a:ext cx="5185573" cy="685801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Predictor from the model and online residual calculation</a:t>
            </a:r>
            <a:endParaRPr lang="en-US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8" name="Fumetto: rettangolo 17">
            <a:extLst>
              <a:ext uri="{FF2B5EF4-FFF2-40B4-BE49-F238E27FC236}">
                <a16:creationId xmlns:a16="http://schemas.microsoft.com/office/drawing/2014/main" id="{32FA1CE3-567B-D71C-54AD-8D27C853BEA0}"/>
              </a:ext>
            </a:extLst>
          </p:cNvPr>
          <p:cNvSpPr/>
          <p:nvPr/>
        </p:nvSpPr>
        <p:spPr>
          <a:xfrm>
            <a:off x="6459411" y="4747686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Online system control</a:t>
            </a:r>
            <a:endParaRPr lang="en-US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Fumetto: rettangolo 1">
                <a:extLst>
                  <a:ext uri="{FF2B5EF4-FFF2-40B4-BE49-F238E27FC236}">
                    <a16:creationId xmlns:a16="http://schemas.microsoft.com/office/drawing/2014/main" id="{D189872F-CEB3-8E6B-A8A6-A8B8BC70004B}"/>
                  </a:ext>
                </a:extLst>
              </p:cNvPr>
              <p:cNvSpPr/>
              <p:nvPr/>
            </p:nvSpPr>
            <p:spPr>
              <a:xfrm>
                <a:off x="515812" y="3582486"/>
                <a:ext cx="5185573" cy="538609"/>
              </a:xfrm>
              <a:prstGeom prst="wedgeRectCallout">
                <a:avLst>
                  <a:gd name="adj1" fmla="val 64540"/>
                  <a:gd name="adj2" fmla="val 4836"/>
                </a:avLst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400" noProof="0" dirty="0">
                    <a:solidFill>
                      <a:sysClr val="windowText" lastClr="000000"/>
                    </a:solidFill>
                    <a:ea typeface="+mn-ea"/>
                    <a:cs typeface="+mn-cs"/>
                  </a:rPr>
                  <a:t>Matrices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𝐿</m:t>
                        </m:r>
                      </m:e>
                      <m:sub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𝑤</m:t>
                        </m:r>
                      </m:sub>
                    </m:sSub>
                    <m:r>
                      <a:rPr lang="it-IT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𝐿</m:t>
                        </m:r>
                      </m:e>
                      <m:sub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𝑢</m:t>
                        </m:r>
                      </m:sub>
                    </m:sSub>
                  </m:oMath>
                </a14:m>
                <a:endParaRPr lang="it-IT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" name="Fumetto: rettangolo 1">
                <a:extLst>
                  <a:ext uri="{FF2B5EF4-FFF2-40B4-BE49-F238E27FC236}">
                    <a16:creationId xmlns:a16="http://schemas.microsoft.com/office/drawing/2014/main" id="{D189872F-CEB3-8E6B-A8A6-A8B8BC7000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12" y="3582486"/>
                <a:ext cx="5185573" cy="538609"/>
              </a:xfrm>
              <a:prstGeom prst="wedgeRectCallout">
                <a:avLst>
                  <a:gd name="adj1" fmla="val 64540"/>
                  <a:gd name="adj2" fmla="val 4836"/>
                </a:avLst>
              </a:prstGeom>
              <a:blipFill>
                <a:blip r:embed="rId3"/>
                <a:stretch>
                  <a:fillRect l="-1431" b="-15217"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itolo 9">
            <a:extLst>
              <a:ext uri="{FF2B5EF4-FFF2-40B4-BE49-F238E27FC236}">
                <a16:creationId xmlns:a16="http://schemas.microsoft.com/office/drawing/2014/main" id="{EADE46E3-28D2-4F66-CBDC-9A3143F70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439400" cy="533401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The Idea: </a:t>
            </a:r>
            <a:r>
              <a:rPr lang="en-GB" dirty="0">
                <a:latin typeface="Arial Black" panose="020B0A04020102020204" pitchFamily="34" charset="0"/>
              </a:rPr>
              <a:t>… to a unified framework</a:t>
            </a:r>
            <a:endParaRPr lang="en-GB" noProof="0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6103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8222F-1461-7BFE-6657-A8744E1E4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BA8D8462-C72A-3FC4-9607-F2AEE8C64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Problem setting –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context of application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C3A9D56-9CA0-38A9-0194-6995CE6AD34B}"/>
              </a:ext>
            </a:extLst>
          </p:cNvPr>
          <p:cNvSpPr txBox="1"/>
          <p:nvPr/>
        </p:nvSpPr>
        <p:spPr>
          <a:xfrm>
            <a:off x="762000" y="1676400"/>
            <a:ext cx="96774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Subspace System Identification and Model Predictive Control are two widely studied and applied methods to solve two problems that are usually considered separate: these problems being system identification and system control.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The SPC method aims to replace the system identification step and the calculation of the controller parameters with a QR decomposition followed by an SVD decomposition of a matrix that is constructed using known inputs and outputs only, combining the two solution to two problems into an elegant solution  for one big problem.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541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3813E-68A3-28F5-C92E-8C2615847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C2287B64-819A-222C-D66C-9E7F168CF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System setting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49EC1B8-EC3A-FA81-4CFB-7D1041980CA9}"/>
              </a:ext>
            </a:extLst>
          </p:cNvPr>
          <p:cNvSpPr txBox="1"/>
          <p:nvPr/>
        </p:nvSpPr>
        <p:spPr>
          <a:xfrm>
            <a:off x="762000" y="1676400"/>
            <a:ext cx="97536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paper considers a LTI system of the form: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Where: 	</a:t>
            </a: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	  are the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system inputs			is the noise sequence</a:t>
            </a: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	  are the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system outputs		</a:t>
            </a:r>
          </a:p>
          <a:p>
            <a:pPr algn="just"/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	  are the system states		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only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GB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u</a:t>
            </a:r>
            <a:r>
              <a:rPr lang="en-GB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are </a:t>
            </a:r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known 	</a:t>
            </a: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7F5D2AB-A58A-DBB5-8FD6-A0048A0AAD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2409673"/>
            <a:ext cx="4535515" cy="1036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7" name="Picture 13">
            <a:extLst>
              <a:ext uri="{FF2B5EF4-FFF2-40B4-BE49-F238E27FC236}">
                <a16:creationId xmlns:a16="http://schemas.microsoft.com/office/drawing/2014/main" id="{22782CCD-2EDD-0D55-CB6A-90B8004B79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11200"/>
          <a:stretch>
            <a:fillRect/>
          </a:stretch>
        </p:blipFill>
        <p:spPr bwMode="auto">
          <a:xfrm>
            <a:off x="931333" y="4274956"/>
            <a:ext cx="1042987" cy="363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9" name="Picture 15">
            <a:extLst>
              <a:ext uri="{FF2B5EF4-FFF2-40B4-BE49-F238E27FC236}">
                <a16:creationId xmlns:a16="http://schemas.microsoft.com/office/drawing/2014/main" id="{F2130169-7A62-2370-6033-AF59ED3C54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916"/>
          <a:stretch>
            <a:fillRect/>
          </a:stretch>
        </p:blipFill>
        <p:spPr bwMode="auto">
          <a:xfrm>
            <a:off x="914401" y="4680626"/>
            <a:ext cx="1042988" cy="42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1" name="Picture 17">
            <a:extLst>
              <a:ext uri="{FF2B5EF4-FFF2-40B4-BE49-F238E27FC236}">
                <a16:creationId xmlns:a16="http://schemas.microsoft.com/office/drawing/2014/main" id="{155CD979-0889-241F-CF57-01126C6459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619"/>
          <a:stretch>
            <a:fillRect/>
          </a:stretch>
        </p:blipFill>
        <p:spPr bwMode="auto">
          <a:xfrm>
            <a:off x="914401" y="5018928"/>
            <a:ext cx="1059920" cy="42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804C8C31-9EE7-2A9B-EBD8-FEC10261F0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4313058"/>
            <a:ext cx="222779" cy="32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64E0D3B-0AF6-84B0-7A69-CCAC1BA76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4343400"/>
            <a:ext cx="1039810" cy="253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0664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B7DE3-51CD-6B5A-2B5E-0306F45D4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4C25E8CD-460D-EA59-6695-FF3B1931B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Block Hankel matrices definition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9CB48FC-5C86-0F21-A5FE-DF198C688242}"/>
              </a:ext>
            </a:extLst>
          </p:cNvPr>
          <p:cNvSpPr txBox="1"/>
          <p:nvPr/>
        </p:nvSpPr>
        <p:spPr>
          <a:xfrm>
            <a:off x="762000" y="1676400"/>
            <a:ext cx="1074420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The SPC algorithm starts by defining the block Hankel matrices for inputs, outputs and noise, assuming k= </a:t>
            </a:r>
            <a:r>
              <a:rPr lang="en-GB" sz="2400" dirty="0" err="1">
                <a:latin typeface="Arial" panose="020B0604020202020204" pitchFamily="34" charset="0"/>
                <a:cs typeface="Arial" panose="020B0604020202020204" pitchFamily="34" charset="0"/>
              </a:rPr>
              <a:t>N+M+j</a:t>
            </a:r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 total samples for all three signals: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We define the matrices			     in the same way.</a:t>
            </a:r>
          </a:p>
          <a:p>
            <a:pPr algn="just"/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p </a:t>
            </a:r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represents “past” matrices, with M being the number of “past” data points</a:t>
            </a:r>
          </a:p>
          <a:p>
            <a:pPr algn="just"/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f </a:t>
            </a:r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represents “future”	matrices, with N being the number of “future” data points</a:t>
            </a: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3" name="Picture 5">
            <a:extLst>
              <a:ext uri="{FF2B5EF4-FFF2-40B4-BE49-F238E27FC236}">
                <a16:creationId xmlns:a16="http://schemas.microsoft.com/office/drawing/2014/main" id="{4F164D35-540F-683B-ECC3-C08E58382E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600" y="2653755"/>
            <a:ext cx="4191000" cy="1478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347E99B8-3CE4-4F97-7F95-CF09DA3AEB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6774" y="2667000"/>
            <a:ext cx="4682226" cy="1459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5B787739-D46B-F10D-E3AA-16E4AC3E9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800" y="4646620"/>
            <a:ext cx="2514600" cy="469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9057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53F32-E3E6-C505-8515-922310E3D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6953E27C-10B1-A2E6-6AC4-7B493C8B4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1615827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dirty="0">
                <a:latin typeface="Arial Black" panose="020B0A04020102020204" pitchFamily="34" charset="0"/>
              </a:rPr>
              <a:t>Defining the predictor and LS problem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A9F1D71B-7C26-282E-A5F7-6C13EFA9D5D8}"/>
                  </a:ext>
                </a:extLst>
              </p:cNvPr>
              <p:cNvSpPr txBox="1"/>
              <p:nvPr/>
            </p:nvSpPr>
            <p:spPr>
              <a:xfrm>
                <a:off x="762000" y="1676400"/>
                <a:ext cx="10744200" cy="34986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Using past </a:t>
                </a:r>
                <a:r>
                  <a:rPr lang="en-GB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matrices we can build matrix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And then try to find a linear predictor of the outputs:</a:t>
                </a:r>
              </a:p>
              <a:p>
                <a:pPr algn="just"/>
                <a:endParaRPr lang="en-GB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𝑌</m:t>
                              </m:r>
                            </m:e>
                          </m:acc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𝑊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𝑝</m:t>
                          </m:r>
                        </m:sub>
                      </m:sSub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+</m:t>
                      </m:r>
                      <m:sSub>
                        <m:sSub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sub>
                      </m:sSub>
                      <m:sSub>
                        <m:sSub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𝑈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To find this predictor we need to 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that solve the </a:t>
                </a:r>
                <a:r>
                  <a:rPr lang="en-GB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least squares problem:</a:t>
                </a:r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A9F1D71B-7C26-282E-A5F7-6C13EFA9D5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676400"/>
                <a:ext cx="10744200" cy="3498650"/>
              </a:xfrm>
              <a:prstGeom prst="rect">
                <a:avLst/>
              </a:prstGeom>
              <a:blipFill>
                <a:blip r:embed="rId2"/>
                <a:stretch>
                  <a:fillRect l="-851" t="-1220" r="-794" b="-20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>
            <a:extLst>
              <a:ext uri="{FF2B5EF4-FFF2-40B4-BE49-F238E27FC236}">
                <a16:creationId xmlns:a16="http://schemas.microsoft.com/office/drawing/2014/main" id="{888B6C39-EA51-2423-9BBE-9407BF7869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3200" y="1559818"/>
            <a:ext cx="1752600" cy="691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49EE8198-8CC9-6E6C-4F5A-4252BDD11C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2712" y="4779069"/>
            <a:ext cx="7800975" cy="1038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77282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DC92A-4B12-4310-5445-23DD1B263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0CCEDA94-E413-B429-A6A5-E9B625CE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</a:t>
            </a:r>
            <a:r>
              <a:rPr lang="en-GB" dirty="0">
                <a:latin typeface="Arial Black" panose="020B0A04020102020204" pitchFamily="34" charset="0"/>
              </a:rPr>
              <a:t>Subspace Step 1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7A28961-FE8E-DBE6-658C-1CF89EA111A0}"/>
              </a:ext>
            </a:extLst>
          </p:cNvPr>
          <p:cNvSpPr txBox="1"/>
          <p:nvPr/>
        </p:nvSpPr>
        <p:spPr>
          <a:xfrm>
            <a:off x="723900" y="1191645"/>
            <a:ext cx="107442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can solve the 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Least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Squares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problem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using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QR 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decomposition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like so</a:t>
            </a:r>
          </a:p>
          <a:p>
            <a:pPr algn="just"/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it-IT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it-IT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it-IT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lang="it-IT" sz="2400" dirty="0" err="1">
                <a:latin typeface="Arial" panose="020B0604020202020204" pitchFamily="34" charset="0"/>
                <a:cs typeface="Arial" panose="020B0604020202020204" pitchFamily="34" charset="0"/>
              </a:rPr>
              <a:t>then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computing the </a:t>
            </a:r>
            <a:r>
              <a:rPr lang="it-IT" sz="2400" dirty="0" err="1">
                <a:latin typeface="Arial" panose="020B0604020202020204" pitchFamily="34" charset="0"/>
                <a:cs typeface="Arial" panose="020B0604020202020204" pitchFamily="34" charset="0"/>
              </a:rPr>
              <a:t>matrix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just"/>
            <a:endParaRPr lang="it-IT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thus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5E7E1F09-7C16-296C-4CF3-EFD91FD307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1828800"/>
            <a:ext cx="6400799" cy="1822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03B6592E-7D46-D962-F6B1-82CF1B5303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200" y="3676830"/>
            <a:ext cx="4343400" cy="828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149A6B57-5CEE-C02B-D4BE-FCBA8BC3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3200" y="4953000"/>
            <a:ext cx="3200400" cy="53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285E648B-7359-C131-0198-9CC8227548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0748" y="4953000"/>
            <a:ext cx="3492903" cy="533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7720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1D38E-E42A-794A-265F-EE9B02AF1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2E3A97D5-B71A-83F2-FF50-EEA420BD9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</a:t>
            </a:r>
            <a:r>
              <a:rPr lang="en-GB" dirty="0">
                <a:latin typeface="Arial Black" panose="020B0A04020102020204" pitchFamily="34" charset="0"/>
              </a:rPr>
              <a:t>Subspace Step 2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1B4B6DF-2C26-DCB2-E799-BC690D152E4A}"/>
                  </a:ext>
                </a:extLst>
              </p:cNvPr>
              <p:cNvSpPr txBox="1"/>
              <p:nvPr/>
            </p:nvSpPr>
            <p:spPr>
              <a:xfrm>
                <a:off x="723900" y="1191645"/>
                <a:ext cx="10744200" cy="38152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next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step of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algotithm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execute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rank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-n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approximation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using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SVD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decomposition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(n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chosen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by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inspecting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number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of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singular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values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of S):</a:t>
                </a: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Note: under the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assumption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that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number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of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columns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of		     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infinite		,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there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direct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link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between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and the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observability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matrix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Γ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the state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sequence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𝑋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1B4B6DF-2C26-DCB2-E799-BC690D152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91645"/>
                <a:ext cx="10744200" cy="3815275"/>
              </a:xfrm>
              <a:prstGeom prst="rect">
                <a:avLst/>
              </a:prstGeom>
              <a:blipFill>
                <a:blip r:embed="rId2"/>
                <a:stretch>
                  <a:fillRect l="-908" t="-1118" r="-851" b="-191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>
            <a:extLst>
              <a:ext uri="{FF2B5EF4-FFF2-40B4-BE49-F238E27FC236}">
                <a16:creationId xmlns:a16="http://schemas.microsoft.com/office/drawing/2014/main" id="{5BA532AF-A20F-2BC1-4CBE-CDD59562E3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842" y="2385641"/>
            <a:ext cx="6527158" cy="1271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7" name="Picture 7">
            <a:extLst>
              <a:ext uri="{FF2B5EF4-FFF2-40B4-BE49-F238E27FC236}">
                <a16:creationId xmlns:a16="http://schemas.microsoft.com/office/drawing/2014/main" id="{D68969F2-E63F-B955-2D4F-6532313FE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9200" y="3810000"/>
            <a:ext cx="1259253" cy="351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>
            <a:extLst>
              <a:ext uri="{FF2B5EF4-FFF2-40B4-BE49-F238E27FC236}">
                <a16:creationId xmlns:a16="http://schemas.microsoft.com/office/drawing/2014/main" id="{F8870000-4025-7FA0-A09D-3F6C8DDFD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0" y="4234149"/>
            <a:ext cx="770412" cy="261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4" name="Picture 14">
            <a:extLst>
              <a:ext uri="{FF2B5EF4-FFF2-40B4-BE49-F238E27FC236}">
                <a16:creationId xmlns:a16="http://schemas.microsoft.com/office/drawing/2014/main" id="{CE28A8CE-E4CC-199A-A7D6-56874E14E7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00" y="5029200"/>
            <a:ext cx="1964724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5" name="Picture 15">
            <a:extLst>
              <a:ext uri="{FF2B5EF4-FFF2-40B4-BE49-F238E27FC236}">
                <a16:creationId xmlns:a16="http://schemas.microsoft.com/office/drawing/2014/main" id="{208A52BD-01C4-AAF0-3F91-52838E9F9F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2800" y="5029200"/>
            <a:ext cx="3393822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1511BC54-FC04-4EF5-B6CB-DB2BC5202002}"/>
                  </a:ext>
                </a:extLst>
              </p:cNvPr>
              <p:cNvSpPr txBox="1"/>
              <p:nvPr/>
            </p:nvSpPr>
            <p:spPr>
              <a:xfrm>
                <a:off x="7239000" y="5105400"/>
                <a:ext cx="4229100" cy="6823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18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accPr>
                          <m:e>
                            <m:r>
                              <a:rPr lang="it-IT" sz="18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𝑋</m:t>
                            </m:r>
                          </m:e>
                        </m:acc>
                      </m:e>
                      <m:sub>
                        <m:r>
                          <a:rPr lang="it-IT" sz="18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it-IT" sz="18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US" dirty="0"/>
                  <a:t>is a Kalman filter estimate of</a:t>
                </a:r>
                <a14:m>
                  <m:oMath xmlns:m="http://schemas.openxmlformats.org/officeDocument/2006/math">
                    <m:r>
                      <a:rPr lang="it-IT" sz="1800" b="0" i="0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sSub>
                      <m:sSubPr>
                        <m:ctrlPr>
                          <a:rPr lang="it-IT" sz="18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18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𝑋</m:t>
                        </m:r>
                      </m:e>
                      <m:sub>
                        <m:r>
                          <a:rPr lang="it-IT" sz="18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it-IT" dirty="0"/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1511BC54-FC04-4EF5-B6CB-DB2BC5202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0" y="5105400"/>
                <a:ext cx="4229100" cy="682366"/>
              </a:xfrm>
              <a:prstGeom prst="rect">
                <a:avLst/>
              </a:prstGeom>
              <a:blipFill>
                <a:blip r:embed="rId8"/>
                <a:stretch>
                  <a:fillRect t="-360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02677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E50CC-0AE1-267D-FC4D-B9618FB63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177C2024-14B5-7E65-430A-6F702AF43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</a:t>
            </a:r>
            <a:r>
              <a:rPr lang="en-GB" dirty="0">
                <a:latin typeface="Arial Black" panose="020B0A04020102020204" pitchFamily="34" charset="0"/>
              </a:rPr>
              <a:t>MPC problem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C6A839EB-6E78-0A60-AB09-75FB87247019}"/>
                  </a:ext>
                </a:extLst>
              </p:cNvPr>
              <p:cNvSpPr txBox="1"/>
              <p:nvPr/>
            </p:nvSpPr>
            <p:spPr>
              <a:xfrm>
                <a:off x="723900" y="1185270"/>
                <a:ext cx="10744200" cy="52155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idea of the MPC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portion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algorithm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revolves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around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construction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a controller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minimizes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cost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function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J </a:t>
                </a: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3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𝐽</m:t>
                      </m:r>
                      <m:r>
                        <a:rPr lang="it-IT" sz="3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p>
                        <m:sSupPr>
                          <m:ctrlP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it-IT" sz="32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32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it-IT" sz="3200" b="0" i="1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it-IT" sz="3200" b="0" i="1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it-IT" sz="32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𝑓</m:t>
                                  </m:r>
                                </m:sub>
                              </m:sSub>
                              <m:r>
                                <a:rPr lang="it-IT" sz="32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it-IT" sz="32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32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it-IT" sz="32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p>
                      <m:r>
                        <a:rPr lang="it-IT" sz="3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𝑄</m:t>
                      </m:r>
                      <m:r>
                        <a:rPr lang="it-IT" sz="3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sSub>
                        <m:sSubPr>
                          <m:ctrlP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it-IT" sz="32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r>
                                <a:rPr lang="it-IT" sz="32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it-IT" sz="3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sSub>
                        <m:sSubPr>
                          <m:ctrlP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𝑟</m:t>
                          </m:r>
                        </m:e>
                        <m:sub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it-IT" sz="3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)+</m:t>
                      </m:r>
                      <m:sSubSup>
                        <m:sSubSupPr>
                          <m:ctrlP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  <m:sup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bSup>
                      <m:r>
                        <a:rPr lang="it-IT" sz="3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𝑅</m:t>
                      </m:r>
                      <m:sSub>
                        <m:sSubPr>
                          <m:ctrlP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it-IT" sz="4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In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this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context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are the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reference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outputs,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while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acc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are the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estimated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outputs of the system,</a:t>
                </a:r>
                <a:r>
                  <a:rPr lang="it-IT" sz="2400" noProof="0" dirty="0"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is the future input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sequence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, and Q and R are user-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defined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diagonal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weight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matrices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accPr>
                          <m:e>
                            <m:r>
                              <a:rPr lang="it-IT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it-IT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it-IT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it-IT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it-IT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it-IT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it-IT" sz="2400" noProof="0" dirty="0">
                    <a:cs typeface="Arial" panose="020B0604020202020204" pitchFamily="34" charset="0"/>
                  </a:rPr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it-IT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it-IT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it-IT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	</a:t>
                </a:r>
                <a:r>
                  <a:rPr lang="it-IT" sz="2400" noProof="0" dirty="0">
                    <a:cs typeface="Arial" panose="020B0604020202020204" pitchFamily="34" charset="0"/>
                  </a:rPr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it-IT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it-IT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it-IT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C6A839EB-6E78-0A60-AB09-75FB872470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85270"/>
                <a:ext cx="10744200" cy="5215530"/>
              </a:xfrm>
              <a:prstGeom prst="rect">
                <a:avLst/>
              </a:prstGeom>
              <a:blipFill>
                <a:blip r:embed="rId3"/>
                <a:stretch>
                  <a:fillRect l="-908" t="-818" r="-15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20719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3C11E-7BCF-F721-1738-8FC042ABB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D4A6EC3A-C7C0-E9D2-0113-1DBC7FBC5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Principle of </a:t>
            </a:r>
            <a:r>
              <a:rPr lang="en-GB" dirty="0">
                <a:latin typeface="Arial Black" panose="020B0A04020102020204" pitchFamily="34" charset="0"/>
              </a:rPr>
              <a:t>MPC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7438525-36CC-3470-CEA6-B1FF903B89EA}"/>
                  </a:ext>
                </a:extLst>
              </p:cNvPr>
              <p:cNvSpPr txBox="1"/>
              <p:nvPr/>
            </p:nvSpPr>
            <p:spPr>
              <a:xfrm>
                <a:off x="723900" y="1185270"/>
                <a:ext cx="10744200" cy="15992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aim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find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feature control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sequence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minimizes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performance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criterion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J.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prediction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forward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horizon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done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on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basis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the knowledge of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backward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horizon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7438525-36CC-3470-CEA6-B1FF903B89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85270"/>
                <a:ext cx="10744200" cy="1599284"/>
              </a:xfrm>
              <a:prstGeom prst="rect">
                <a:avLst/>
              </a:prstGeom>
              <a:blipFill>
                <a:blip r:embed="rId3"/>
                <a:stretch>
                  <a:fillRect l="-908" t="-3042" r="-8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magine 3" descr="Immagine che contiene linea, diagramma, schizzo, bianco&#10;&#10;Il contenuto generato dall'IA potrebbe non essere corretto.">
            <a:extLst>
              <a:ext uri="{FF2B5EF4-FFF2-40B4-BE49-F238E27FC236}">
                <a16:creationId xmlns:a16="http://schemas.microsoft.com/office/drawing/2014/main" id="{B222F164-CA94-95B8-F4E9-4539198730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999" y="2624730"/>
            <a:ext cx="6381193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6137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A748-8538-F760-9E6B-4F27E13A3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E760A000-055B-7F77-DE2E-D83FE64AA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Control</a:t>
            </a:r>
            <a:r>
              <a:rPr lang="en-GB" dirty="0">
                <a:latin typeface="Arial Black" panose="020B0A04020102020204" pitchFamily="34" charset="0"/>
              </a:rPr>
              <a:t> step 1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367F24C-DB9D-043A-C3E0-240A6426CF81}"/>
                  </a:ext>
                </a:extLst>
              </p:cNvPr>
              <p:cNvSpPr txBox="1"/>
              <p:nvPr/>
            </p:nvSpPr>
            <p:spPr>
              <a:xfrm>
                <a:off x="723900" y="1191645"/>
                <a:ext cx="10744200" cy="48730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We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need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define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controller input,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using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past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inputs and outputs of the system:</a:t>
                </a:r>
              </a:p>
              <a:p>
                <a:pPr algn="just"/>
                <a:endParaRPr lang="it-IT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𝑦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  <m:r>
                      <a:rPr lang="it-IT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−</m:t>
                                </m:r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𝑀</m:t>
                                </m:r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it-IT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it-IT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	</a:t>
                </a:r>
                <a:r>
                  <a:rPr lang="it-IT" sz="2400" noProof="0" dirty="0"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  <m:r>
                      <a:rPr lang="it-IT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−</m:t>
                                </m:r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𝑀</m:t>
                                </m:r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it-IT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it-IT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	</a:t>
                </a:r>
                <a:r>
                  <a:rPr lang="it-IT" sz="2400" noProof="0" dirty="0"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  <m:r>
                      <a:rPr lang="it-IT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it-IT" sz="180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it-IT" sz="18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it-IT" sz="18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it-IT" sz="180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it-IT" sz="18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it-IT" sz="18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endParaRPr lang="it-IT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Where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M,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as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defined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previously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number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of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past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data points.</a:t>
                </a:r>
              </a:p>
              <a:p>
                <a:pPr algn="just"/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cost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function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J can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now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be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rewritten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as</a:t>
                </a: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𝐽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p>
                        <m:sSupPr>
                          <m:ctrlP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it-IT" sz="20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SupPr>
                            <m:e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  <m:sup/>
                          </m:sSubSup>
                          <m:sSubSup>
                            <m:sSubSupPr>
                              <m:ctrlPr>
                                <a:rPr lang="it-IT" sz="16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  <m:sup/>
                          </m:sSubSup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  <m:sup/>
                          </m:sSubSup>
                          <m:sSubSup>
                            <m:sSubSupPr>
                              <m:ctrlPr>
                                <a:rPr lang="it-IT" sz="16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/>
                          </m:sSubSup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/>
                          </m:sSubSup>
                          <m: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)</m:t>
                          </m:r>
                        </m:e>
                        <m:sup>
                          <m: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p>
                      <m:r>
                        <a:rPr lang="it-IT" sz="20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𝑄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sSubSup>
                        <m:sSubSupPr>
                          <m:ctrlPr>
                            <a:rPr lang="it-IT" sz="2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it-IT" sz="2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  <m:sup/>
                      </m:sSubSup>
                      <m:sSubSup>
                        <m:sSubSupPr>
                          <m:ctrlPr>
                            <a:rPr lang="it-IT" sz="2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/>
                      </m:sSubSup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/>
                      </m:sSubSup>
                      <m:sSubSup>
                        <m:sSubSupPr>
                          <m:ctrlPr>
                            <a:rPr lang="it-IT" sz="2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  <m:sup/>
                      </m:sSubSup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  <m:sup/>
                      </m:sSubSup>
                      <m:r>
                        <a:rPr lang="it-IT" sz="20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)+</m:t>
                      </m:r>
                      <m:sSubSup>
                        <m:sSubSupPr>
                          <m:ctrlP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  <m:sup>
                          <m: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bSup>
                      <m:r>
                        <a:rPr lang="it-IT" sz="20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𝑅</m:t>
                      </m:r>
                      <m:sSub>
                        <m:sSubPr>
                          <m:ctrlP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it-IT" sz="2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367F24C-DB9D-043A-C3E0-240A6426CF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91645"/>
                <a:ext cx="10744200" cy="4873001"/>
              </a:xfrm>
              <a:prstGeom prst="rect">
                <a:avLst/>
              </a:prstGeom>
              <a:blipFill>
                <a:blip r:embed="rId3"/>
                <a:stretch>
                  <a:fillRect l="-908" t="-1000" r="-8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16299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2A103-772A-6F4E-43CD-BAD0F96AE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EB99D7A1-39CC-A3DC-F5B5-B982E0711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Control</a:t>
            </a:r>
            <a:r>
              <a:rPr lang="en-GB" dirty="0">
                <a:latin typeface="Arial Black" panose="020B0A04020102020204" pitchFamily="34" charset="0"/>
              </a:rPr>
              <a:t> step 2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1AD414A0-A715-1469-0125-37B4B3F31316}"/>
                  </a:ext>
                </a:extLst>
              </p:cNvPr>
              <p:cNvSpPr txBox="1"/>
              <p:nvPr/>
            </p:nvSpPr>
            <p:spPr>
              <a:xfrm>
                <a:off x="723900" y="1191645"/>
                <a:ext cx="10744200" cy="31138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Now,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we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can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implement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first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imput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, of the SPC controller sequence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can be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computed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</a:p>
              <a:p>
                <a:pPr algn="just"/>
                <a:endParaRPr lang="it-IT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40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p>
                        <m:sSup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𝑅</m:t>
                              </m:r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𝑢</m:t>
                                  </m:r>
                                </m:sub>
                                <m:sup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𝑇</m:t>
                                  </m:r>
                                </m:sup>
                              </m:sSubSup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𝑄</m:t>
                              </m:r>
                              <m:sSub>
                                <m:sSubPr>
                                  <m:ctrlP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−1</m:t>
                          </m:r>
                        </m:sup>
                      </m:sSup>
                      <m:sSubSup>
                        <m:sSubSup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sub>
                        <m:sup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bSup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𝑄</m:t>
                      </m:r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sSub>
                        <m:sSub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𝑟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sSub>
                        <m:sSub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𝑝</m:t>
                          </m:r>
                        </m:sub>
                      </m:sSub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it-IT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And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then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repeat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these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last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two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steps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iteratively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implement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following control steps,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using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newly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measured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output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𝑦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1AD414A0-A715-1469-0125-37B4B3F313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91645"/>
                <a:ext cx="10744200" cy="3113866"/>
              </a:xfrm>
              <a:prstGeom prst="rect">
                <a:avLst/>
              </a:prstGeom>
              <a:blipFill>
                <a:blip r:embed="rId2"/>
                <a:stretch>
                  <a:fillRect l="-908" t="-1370" r="-1589" b="-352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11247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5A212-F7F3-E3A6-4384-717E60898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8895E181-0BB5-68A0-F54D-4F4FCCFB8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</a:t>
            </a:r>
            <a:br>
              <a:rPr lang="en-GB" noProof="0" dirty="0">
                <a:latin typeface="Arial Black" panose="020B0A04020102020204" pitchFamily="34" charset="0"/>
              </a:rPr>
            </a:br>
            <a:endParaRPr lang="en-GB" noProof="0" dirty="0">
              <a:latin typeface="Arial Black" panose="020B0A04020102020204" pitchFamily="34" charset="0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E214AF7-BD5F-1697-AC34-4C091718BD70}"/>
              </a:ext>
            </a:extLst>
          </p:cNvPr>
          <p:cNvSpPr txBox="1"/>
          <p:nvPr/>
        </p:nvSpPr>
        <p:spPr>
          <a:xfrm>
            <a:off x="762000" y="1676400"/>
            <a:ext cx="9677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GB" sz="2400" i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44305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FD052-A6E4-4EA3-40C9-0D7F9ED82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14853C74-3D76-BB45-5EBD-2082D50CC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Results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2E4F1D8-6E3E-1635-DEBC-9C2A6FBDE9CC}"/>
              </a:ext>
            </a:extLst>
          </p:cNvPr>
          <p:cNvSpPr txBox="1"/>
          <p:nvPr/>
        </p:nvSpPr>
        <p:spPr>
          <a:xfrm>
            <a:off x="762000" y="1676400"/>
            <a:ext cx="9677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GB" sz="2400" i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4619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E75B6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1128</Words>
  <Application>Microsoft Office PowerPoint</Application>
  <PresentationFormat>Widescreen</PresentationFormat>
  <Paragraphs>139</Paragraphs>
  <Slides>17</Slides>
  <Notes>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17</vt:i4>
      </vt:variant>
    </vt:vector>
  </HeadingPairs>
  <TitlesOfParts>
    <vt:vector size="24" baseType="lpstr">
      <vt:lpstr>Aptos</vt:lpstr>
      <vt:lpstr>Arial</vt:lpstr>
      <vt:lpstr>Arial Black</vt:lpstr>
      <vt:lpstr>Cambria Math</vt:lpstr>
      <vt:lpstr>Franklin Gothic Medium</vt:lpstr>
      <vt:lpstr>Trebuchet MS</vt:lpstr>
      <vt:lpstr>Office Theme</vt:lpstr>
      <vt:lpstr>SPC: Subspace Predictive Control  Presentation for the course Adaptive Learning, Estimation and Supervision of dynamical systems (ALES)</vt:lpstr>
      <vt:lpstr>Selected paper</vt:lpstr>
      <vt:lpstr>The References </vt:lpstr>
      <vt:lpstr>The Idea: from two separated frameworks…</vt:lpstr>
      <vt:lpstr>The Idea: … to a unified framework</vt:lpstr>
      <vt:lpstr>Problem setting –  context of application</vt:lpstr>
      <vt:lpstr>Proposed solution –   System setting</vt:lpstr>
      <vt:lpstr>Proposed solution –   Block Hankel matrices definition</vt:lpstr>
      <vt:lpstr>Proposed solution –   Defining the predictor and LS problem</vt:lpstr>
      <vt:lpstr>Proposed solution – Subspace Step 1</vt:lpstr>
      <vt:lpstr>Proposed solution – Subspace Step 2</vt:lpstr>
      <vt:lpstr>Proposed solution – MPC problem</vt:lpstr>
      <vt:lpstr>Proposed solution – Principle of MPC</vt:lpstr>
      <vt:lpstr>Proposed solution – Control step 1</vt:lpstr>
      <vt:lpstr>Proposed solution – Control step 2</vt:lpstr>
      <vt:lpstr>Practical implementation –  </vt:lpstr>
      <vt:lpstr>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Gabriele Mazzoleni</dc:creator>
  <cp:lastModifiedBy>GABRIELE MAZZOLENI</cp:lastModifiedBy>
  <cp:revision>186</cp:revision>
  <dcterms:created xsi:type="dcterms:W3CDTF">2025-06-12T18:24:46Z</dcterms:created>
  <dcterms:modified xsi:type="dcterms:W3CDTF">2025-12-29T09:51:29Z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2025-02-24T00:00:00Z</vt:filetime>
  </property>
  <property fmtid="{D5CDD505-2E9C-101B-9397-08002B2CF9AE}" pid="3" name="LastSaved">
    <vt:filetime>2025-06-12T00:00:00Z</vt:filetime>
  </property>
  <property fmtid="{D5CDD505-2E9C-101B-9397-08002B2CF9AE}" pid="4" name="Producer">
    <vt:lpwstr>macOS Versione 15.3.1 (Build 24D70) Quartz PDFContext</vt:lpwstr>
  </property>
</Properties>
</file>