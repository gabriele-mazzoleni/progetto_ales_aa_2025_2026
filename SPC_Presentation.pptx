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336" r:id="rId3"/>
    <p:sldId id="337" r:id="rId4"/>
    <p:sldId id="338" r:id="rId5"/>
    <p:sldId id="339" r:id="rId6"/>
    <p:sldId id="340" r:id="rId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4" autoAdjust="0"/>
    <p:restoredTop sz="94660"/>
  </p:normalViewPr>
  <p:slideViewPr>
    <p:cSldViewPr>
      <p:cViewPr varScale="1">
        <p:scale>
          <a:sx n="90" d="100"/>
          <a:sy n="90" d="100"/>
        </p:scale>
        <p:origin x="466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F3C78-BFF9-4137-8833-13E3D0B09D8B}" type="datetimeFigureOut">
              <a:rPr lang="it-IT" smtClean="0"/>
              <a:t>24/12/2025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F9A5-25D9-4BE4-92E4-0A5AF102D313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927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000" y="3"/>
            <a:ext cx="2564130" cy="127000"/>
          </a:xfrm>
          <a:custGeom>
            <a:avLst/>
            <a:gdLst/>
            <a:ahLst/>
            <a:cxnLst/>
            <a:rect l="l" t="t" r="r" b="b"/>
            <a:pathLst>
              <a:path w="2564129" h="127000">
                <a:moveTo>
                  <a:pt x="2563990" y="0"/>
                </a:moveTo>
                <a:lnTo>
                  <a:pt x="0" y="0"/>
                </a:lnTo>
                <a:lnTo>
                  <a:pt x="0" y="126996"/>
                </a:lnTo>
                <a:lnTo>
                  <a:pt x="2563990" y="126996"/>
                </a:lnTo>
                <a:lnTo>
                  <a:pt x="2563990" y="0"/>
                </a:lnTo>
                <a:close/>
              </a:path>
            </a:pathLst>
          </a:custGeom>
          <a:solidFill>
            <a:srgbClr val="CA674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096000"/>
            <a:ext cx="12191998" cy="761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1547" y="65532"/>
            <a:ext cx="7619763" cy="10175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4024" y="2064003"/>
            <a:ext cx="9448165" cy="26054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8" cy="685164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605154" y="3021076"/>
            <a:ext cx="343444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1200" spc="-10" noProof="0" dirty="0">
                <a:solidFill>
                  <a:srgbClr val="426EB0"/>
                </a:solidFill>
                <a:latin typeface="Franklin Gothic Medium"/>
                <a:cs typeface="Franklin Gothic Medium"/>
              </a:rPr>
              <a:t>Students</a:t>
            </a:r>
            <a:endParaRPr lang="en-GB" sz="12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 err="1">
                <a:solidFill>
                  <a:srgbClr val="FFFFFF"/>
                </a:solidFill>
                <a:latin typeface="Franklin Gothic Medium"/>
                <a:cs typeface="Franklin Gothic Medium"/>
              </a:rPr>
              <a:t>Comandatore</a:t>
            </a: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 Gaetano- 1090952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07347" y="2743200"/>
            <a:ext cx="2289253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GB" sz="1200" noProof="0" dirty="0">
                <a:solidFill>
                  <a:srgbClr val="C96643"/>
                </a:solidFill>
                <a:latin typeface="Franklin Gothic Medium"/>
                <a:cs typeface="Franklin Gothic Medium"/>
              </a:rPr>
              <a:t>Computer science engineering</a:t>
            </a:r>
            <a:endParaRPr lang="en-GB" sz="1200" noProof="0" dirty="0">
              <a:latin typeface="Franklin Gothic Medium"/>
              <a:cs typeface="Franklin Gothic Medium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853566" y="2560827"/>
            <a:ext cx="6456190" cy="24134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3200" b="0" noProof="0" dirty="0">
                <a:solidFill>
                  <a:srgbClr val="FFFFFF"/>
                </a:solidFill>
                <a:latin typeface="Arial Black"/>
              </a:rPr>
              <a:t>SPC: Subspace Predictive Control</a:t>
            </a: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r>
              <a:rPr lang="en-GB" sz="2000" b="0" noProof="0" dirty="0">
                <a:solidFill>
                  <a:srgbClr val="FFFFFF"/>
                </a:solidFill>
                <a:latin typeface="Arial Black"/>
              </a:rPr>
              <a:t>Presentation for the course Adaptive Learning, Estimation and Supervision of dynamical systems (ALES)</a:t>
            </a:r>
            <a:endParaRPr lang="en-GB" sz="3200" b="0" noProof="0" dirty="0">
              <a:solidFill>
                <a:srgbClr val="FFFFFF"/>
              </a:solidFill>
              <a:latin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3566" y="5410200"/>
            <a:ext cx="3559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noProof="0" dirty="0">
                <a:solidFill>
                  <a:srgbClr val="FFFFFF"/>
                </a:solidFill>
                <a:latin typeface="Arial Black"/>
                <a:cs typeface="Arial Black"/>
              </a:rPr>
              <a:t>A.Y. 2025/2026</a:t>
            </a:r>
            <a:endParaRPr lang="en-GB" sz="2400" noProof="0" dirty="0">
              <a:latin typeface="Arial Black"/>
              <a:cs typeface="Arial Black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F36CE58-AAFE-238A-54E3-4AE5856774A5}"/>
              </a:ext>
            </a:extLst>
          </p:cNvPr>
          <p:cNvSpPr txBox="1"/>
          <p:nvPr/>
        </p:nvSpPr>
        <p:spPr>
          <a:xfrm>
            <a:off x="8605154" y="3468684"/>
            <a:ext cx="3434445" cy="256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870"/>
              </a:lnSpc>
            </a:pP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Mazzoleni Gabriele - 1079514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BBF1D-1F5E-BF87-3774-E0C37D0E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49BF47E-C162-179C-D3F1-281638D0D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selected paper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10EBCA-39BF-8FE7-E254-D5B99F97EE2E}"/>
              </a:ext>
            </a:extLst>
          </p:cNvPr>
          <p:cNvSpPr txBox="1"/>
          <p:nvPr/>
        </p:nvSpPr>
        <p:spPr>
          <a:xfrm>
            <a:off x="762000" y="1676400"/>
            <a:ext cx="96774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following presentation as an analysis and implementation of the contents of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“SPC: Subspace Prediction Control”,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by Wouter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Favoreel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, Bart De Moor and Michel Gevers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This paper aims to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“combine Subspace Identification and Model Predictive Control methods in a very elegant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ay to form a numerically robust and easily implementable control/identification algorithm”.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10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8222F-1461-7BFE-6657-A8744E1E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BA8D8462-C72A-3FC4-9607-F2AEE8C6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context of application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C3A9D56-9CA0-38A9-0194-6995CE6AD34B}"/>
              </a:ext>
            </a:extLst>
          </p:cNvPr>
          <p:cNvSpPr txBox="1"/>
          <p:nvPr/>
        </p:nvSpPr>
        <p:spPr>
          <a:xfrm>
            <a:off x="762000" y="1676400"/>
            <a:ext cx="96774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Subspace System Identification and Model Predictive Control are two widely studied and applied methods to solve two problems that are usually considered separate: these problems being system identification and system control.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SPC method aims to replace the system identification step and the calculation of the controller parameters with a QR decomposition followed by an SVD decomposition of a matrix that is constructed using known inputs and outputs only, combining the two solution to two problems into an elegant solution  for one big problem.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4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3813E-68A3-28F5-C92E-8C261584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2287B64-819A-222C-D66C-9E7F168C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</a:t>
            </a:r>
            <a:r>
              <a:rPr lang="en-GB" noProof="0">
                <a:latin typeface="Arial Black" panose="020B0A04020102020204" pitchFamily="34" charset="0"/>
              </a:rPr>
              <a:t>solution –  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49EC1B8-EC3A-FA81-4CFB-7D1041980CA9}"/>
              </a:ext>
            </a:extLst>
          </p:cNvPr>
          <p:cNvSpPr txBox="1"/>
          <p:nvPr/>
        </p:nvSpPr>
        <p:spPr>
          <a:xfrm>
            <a:off x="762000" y="1676400"/>
            <a:ext cx="9677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0664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5A212-F7F3-E3A6-4384-717E60898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8895E181-0BB5-68A0-F54D-4F4FCCFB8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E214AF7-BD5F-1697-AC34-4C091718BD70}"/>
              </a:ext>
            </a:extLst>
          </p:cNvPr>
          <p:cNvSpPr txBox="1"/>
          <p:nvPr/>
        </p:nvSpPr>
        <p:spPr>
          <a:xfrm>
            <a:off x="762000" y="1676400"/>
            <a:ext cx="9677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43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FD052-A6E4-4EA3-40C9-0D7F9ED8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4853C74-3D76-BB45-5EBD-2082D50CC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2E4F1D8-6E3E-1635-DEBC-9C2A6FBDE9CC}"/>
              </a:ext>
            </a:extLst>
          </p:cNvPr>
          <p:cNvSpPr txBox="1"/>
          <p:nvPr/>
        </p:nvSpPr>
        <p:spPr>
          <a:xfrm>
            <a:off x="762000" y="1676400"/>
            <a:ext cx="9677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619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5B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212</Words>
  <Application>Microsoft Office PowerPoint</Application>
  <PresentationFormat>Widescreen</PresentationFormat>
  <Paragraphs>20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2" baseType="lpstr">
      <vt:lpstr>Aptos</vt:lpstr>
      <vt:lpstr>Arial</vt:lpstr>
      <vt:lpstr>Arial Black</vt:lpstr>
      <vt:lpstr>Franklin Gothic Medium</vt:lpstr>
      <vt:lpstr>Trebuchet MS</vt:lpstr>
      <vt:lpstr>Office Theme</vt:lpstr>
      <vt:lpstr>SPC: Subspace Predictive Control  Presentation for the course Adaptive Learning, Estimation and Supervision of dynamical systems (ALES)</vt:lpstr>
      <vt:lpstr>Problem setting – selected paper</vt:lpstr>
      <vt:lpstr>Problem setting –  context of application</vt:lpstr>
      <vt:lpstr>Proposed solution –  </vt:lpstr>
      <vt:lpstr>Practical implementation –  system setting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Gabriele Mazzoleni</dc:creator>
  <cp:lastModifiedBy>GABRIELE MAZZOLENI</cp:lastModifiedBy>
  <cp:revision>140</cp:revision>
  <dcterms:created xsi:type="dcterms:W3CDTF">2025-06-12T18:24:46Z</dcterms:created>
  <dcterms:modified xsi:type="dcterms:W3CDTF">2025-12-24T16:25:20Z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2025-02-24T00:00:00Z</vt:filetime>
  </property>
  <property fmtid="{D5CDD505-2E9C-101B-9397-08002B2CF9AE}" pid="3" name="LastSaved">
    <vt:filetime>2025-06-12T00:00:00Z</vt:filetime>
  </property>
  <property fmtid="{D5CDD505-2E9C-101B-9397-08002B2CF9AE}" pid="4" name="Producer">
    <vt:lpwstr>macOS Versione 15.3.1 (Build 24D70) Quartz PDFContext</vt:lpwstr>
  </property>
</Properties>
</file>