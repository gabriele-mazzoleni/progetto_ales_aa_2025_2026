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336" r:id="rId3"/>
    <p:sldId id="351" r:id="rId4"/>
    <p:sldId id="352" r:id="rId5"/>
    <p:sldId id="353" r:id="rId6"/>
    <p:sldId id="337" r:id="rId7"/>
    <p:sldId id="338" r:id="rId8"/>
    <p:sldId id="341" r:id="rId9"/>
    <p:sldId id="342" r:id="rId10"/>
    <p:sldId id="343" r:id="rId11"/>
    <p:sldId id="344" r:id="rId12"/>
    <p:sldId id="345" r:id="rId13"/>
    <p:sldId id="350" r:id="rId14"/>
    <p:sldId id="349" r:id="rId15"/>
    <p:sldId id="346" r:id="rId16"/>
    <p:sldId id="339" r:id="rId17"/>
    <p:sldId id="340" r:id="rId1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90" d="100"/>
          <a:sy n="90" d="100"/>
        </p:scale>
        <p:origin x="466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29/12/2025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52383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8E37A-E5AE-3B54-30F2-2CD2A87C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C917A1C-85FF-0465-0699-015D7F560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83BAA2-E359-E754-7AC0-F926400E7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C5438E-F049-C5EF-C495-53D6E6584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3287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807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12/29/2025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687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4237-90FC-959B-4E4B-A55BCCC7D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ttangolo 28">
            <a:extLst>
              <a:ext uri="{FF2B5EF4-FFF2-40B4-BE49-F238E27FC236}">
                <a16:creationId xmlns:a16="http://schemas.microsoft.com/office/drawing/2014/main" id="{0EB02C55-AC48-5461-EF98-DFC95274D183}"/>
              </a:ext>
            </a:extLst>
          </p:cNvPr>
          <p:cNvSpPr/>
          <p:nvPr/>
        </p:nvSpPr>
        <p:spPr>
          <a:xfrm>
            <a:off x="23748" y="826533"/>
            <a:ext cx="7901049" cy="5180629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SUBSPACE STATE IDENTIFICATION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923B50BC-2E54-C37B-70FE-67EDAF4E7B13}"/>
              </a:ext>
            </a:extLst>
          </p:cNvPr>
          <p:cNvSpPr/>
          <p:nvPr/>
        </p:nvSpPr>
        <p:spPr>
          <a:xfrm>
            <a:off x="9144002" y="85477"/>
            <a:ext cx="2899571" cy="5632621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p:sp>
        <p:nvSpPr>
          <p:cNvPr id="10" name="Titolo 9">
            <a:extLst>
              <a:ext uri="{FF2B5EF4-FFF2-40B4-BE49-F238E27FC236}">
                <a16:creationId xmlns:a16="http://schemas.microsoft.com/office/drawing/2014/main" id="{9F3D3F09-A488-FAAB-A92E-87727F48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15357"/>
            <a:ext cx="4190997" cy="495300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References 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30C82118-00A3-781B-A170-7895C80F3F95}"/>
              </a:ext>
            </a:extLst>
          </p:cNvPr>
          <p:cNvCxnSpPr>
            <a:cxnSpLocks/>
          </p:cNvCxnSpPr>
          <p:nvPr/>
        </p:nvCxnSpPr>
        <p:spPr>
          <a:xfrm>
            <a:off x="8674208" y="990600"/>
            <a:ext cx="0" cy="4724400"/>
          </a:xfrm>
          <a:prstGeom prst="line">
            <a:avLst/>
          </a:prstGeom>
          <a:ln w="1905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umetto: rettangolo 6">
            <a:extLst>
              <a:ext uri="{FF2B5EF4-FFF2-40B4-BE49-F238E27FC236}">
                <a16:creationId xmlns:a16="http://schemas.microsoft.com/office/drawing/2014/main" id="{0A35E63F-B149-6568-0798-432DCCE9CC2D}"/>
              </a:ext>
            </a:extLst>
          </p:cNvPr>
          <p:cNvSpPr/>
          <p:nvPr/>
        </p:nvSpPr>
        <p:spPr>
          <a:xfrm>
            <a:off x="148427" y="1353266"/>
            <a:ext cx="7467599" cy="538609"/>
          </a:xfrm>
          <a:prstGeom prst="wedgeRectCallout">
            <a:avLst>
              <a:gd name="adj1" fmla="val 58863"/>
              <a:gd name="adj2" fmla="val 4321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Cutler, C.R. and B.L. Ramaker. </a:t>
            </a:r>
          </a:p>
          <a:p>
            <a:r>
              <a:rPr lang="en-US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Dynamic matrix control - a computer control algorithm.</a:t>
            </a:r>
          </a:p>
        </p:txBody>
      </p:sp>
      <p:sp>
        <p:nvSpPr>
          <p:cNvPr id="8" name="Fumetto: rettangolo 7">
            <a:extLst>
              <a:ext uri="{FF2B5EF4-FFF2-40B4-BE49-F238E27FC236}">
                <a16:creationId xmlns:a16="http://schemas.microsoft.com/office/drawing/2014/main" id="{4FCD946C-6CD6-1DE5-255E-A43FAE28C7FC}"/>
              </a:ext>
            </a:extLst>
          </p:cNvPr>
          <p:cNvSpPr/>
          <p:nvPr/>
        </p:nvSpPr>
        <p:spPr>
          <a:xfrm>
            <a:off x="148427" y="4672122"/>
            <a:ext cx="7467597" cy="538609"/>
          </a:xfrm>
          <a:prstGeom prst="wedgeRectCallout">
            <a:avLst>
              <a:gd name="adj1" fmla="val 58756"/>
              <a:gd name="adj2" fmla="val 3731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 Moor, B., P. Van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W.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  <a:r>
              <a:rPr lang="en-US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Numerical algorithms for subspace state space system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identification 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– </a:t>
            </a:r>
            <a:r>
              <a:rPr lang="en-US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 overview.</a:t>
            </a:r>
            <a:endParaRPr lang="en-US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umetto: rettangolo 8">
            <a:extLst>
              <a:ext uri="{FF2B5EF4-FFF2-40B4-BE49-F238E27FC236}">
                <a16:creationId xmlns:a16="http://schemas.microsoft.com/office/drawing/2014/main" id="{A16D2549-C407-C286-9D4A-D13C3E190541}"/>
              </a:ext>
            </a:extLst>
          </p:cNvPr>
          <p:cNvSpPr/>
          <p:nvPr/>
        </p:nvSpPr>
        <p:spPr>
          <a:xfrm>
            <a:off x="148427" y="5334000"/>
            <a:ext cx="7467593" cy="538609"/>
          </a:xfrm>
          <a:prstGeom prst="wedgeRectCallout">
            <a:avLst>
              <a:gd name="adj1" fmla="val 59289"/>
              <a:gd name="adj2" fmla="val -3790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W., B. De Moor and P. Van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 </a:t>
            </a:r>
          </a:p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Subspace state system identification for industrial processes.</a:t>
            </a:r>
          </a:p>
        </p:txBody>
      </p:sp>
      <p:sp>
        <p:nvSpPr>
          <p:cNvPr id="11" name="Fumetto: rettangolo 10">
            <a:extLst>
              <a:ext uri="{FF2B5EF4-FFF2-40B4-BE49-F238E27FC236}">
                <a16:creationId xmlns:a16="http://schemas.microsoft.com/office/drawing/2014/main" id="{20BE262C-2E80-2CE4-27C5-24E8849F655A}"/>
              </a:ext>
            </a:extLst>
          </p:cNvPr>
          <p:cNvSpPr/>
          <p:nvPr/>
        </p:nvSpPr>
        <p:spPr>
          <a:xfrm>
            <a:off x="9364547" y="3364680"/>
            <a:ext cx="2554347" cy="1518791"/>
          </a:xfrm>
          <a:prstGeom prst="wedgeRectCallout">
            <a:avLst>
              <a:gd name="adj1" fmla="val -61979"/>
              <a:gd name="adj2" fmla="val -87367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Garcia, C.E., D.M. </a:t>
            </a:r>
            <a:r>
              <a:rPr lang="it-IT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Prett</a:t>
            </a:r>
            <a:r>
              <a:rPr lang="it-IT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M. </a:t>
            </a:r>
            <a:r>
              <a:rPr lang="it-IT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Morari</a:t>
            </a:r>
            <a:r>
              <a:rPr lang="it-IT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 predictive control: Theory and practice </a:t>
            </a:r>
            <a:r>
              <a:rPr lang="it-IT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 a survey.</a:t>
            </a:r>
            <a:endParaRPr lang="en-US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umetto: rettangolo 11">
            <a:extLst>
              <a:ext uri="{FF2B5EF4-FFF2-40B4-BE49-F238E27FC236}">
                <a16:creationId xmlns:a16="http://schemas.microsoft.com/office/drawing/2014/main" id="{D6075689-7CCF-E3BD-153A-F8206D37651E}"/>
              </a:ext>
            </a:extLst>
          </p:cNvPr>
          <p:cNvSpPr/>
          <p:nvPr/>
        </p:nvSpPr>
        <p:spPr>
          <a:xfrm>
            <a:off x="9364549" y="762000"/>
            <a:ext cx="2554345" cy="1905000"/>
          </a:xfrm>
          <a:prstGeom prst="wedgeRectCallout">
            <a:avLst>
              <a:gd name="adj1" fmla="val -62601"/>
              <a:gd name="adj2" fmla="val -14058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Richalet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J., A. </a:t>
            </a:r>
            <a:r>
              <a:rPr lang="en-US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R,ault</a:t>
            </a:r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J.L·. </a:t>
            </a:r>
            <a:r>
              <a:rPr lang="en-US" sz="18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Testud</a:t>
            </a:r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J. Papon. </a:t>
            </a:r>
            <a:r>
              <a:rPr lang="en-US" dirty="0">
                <a:solidFill>
                  <a:schemeClr val="tx1"/>
                </a:solidFill>
              </a:rPr>
              <a:t>M</a:t>
            </a:r>
            <a:r>
              <a:rPr lang="en-US" sz="18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odel predictive heuristic control: Applications to industrial processes.</a:t>
            </a:r>
            <a:endParaRPr lang="en-US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65F65FB3-78B1-807B-83F8-318DF3F2C7EA}"/>
              </a:ext>
            </a:extLst>
          </p:cNvPr>
          <p:cNvSpPr/>
          <p:nvPr/>
        </p:nvSpPr>
        <p:spPr>
          <a:xfrm>
            <a:off x="148427" y="2007751"/>
            <a:ext cx="7467593" cy="538609"/>
          </a:xfrm>
          <a:prstGeom prst="wedgeRectCallout">
            <a:avLst>
              <a:gd name="adj1" fmla="val 59289"/>
              <a:gd name="adj2" fmla="val 5214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Moonen, M., B. De Moor, L. Vandenberghe and J. Vandewalle. </a:t>
            </a:r>
          </a:p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 and off-line identification of linear state space models</a:t>
            </a: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2C4CB1DF-86A6-2399-E229-93DEEAA3DB8E}"/>
              </a:ext>
            </a:extLst>
          </p:cNvPr>
          <p:cNvSpPr/>
          <p:nvPr/>
        </p:nvSpPr>
        <p:spPr>
          <a:xfrm>
            <a:off x="148427" y="4000766"/>
            <a:ext cx="7467593" cy="548090"/>
          </a:xfrm>
          <a:prstGeom prst="wedgeRectCallout">
            <a:avLst>
              <a:gd name="adj1" fmla="val 59396"/>
              <a:gd name="adj2" fmla="val 39985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Viberg, M., B. Wahlberg and B.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Ottersten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.Analysis of state space system identification methods based on instrumental variables and subspace fitting</a:t>
            </a:r>
          </a:p>
        </p:txBody>
      </p:sp>
      <p:sp>
        <p:nvSpPr>
          <p:cNvPr id="15" name="Fumetto: rettangolo 14">
            <a:extLst>
              <a:ext uri="{FF2B5EF4-FFF2-40B4-BE49-F238E27FC236}">
                <a16:creationId xmlns:a16="http://schemas.microsoft.com/office/drawing/2014/main" id="{EF5EA25C-0DD2-0336-2B5B-195B5A600AE9}"/>
              </a:ext>
            </a:extLst>
          </p:cNvPr>
          <p:cNvSpPr/>
          <p:nvPr/>
        </p:nvSpPr>
        <p:spPr>
          <a:xfrm>
            <a:off x="148427" y="2677016"/>
            <a:ext cx="7467593" cy="538609"/>
          </a:xfrm>
          <a:prstGeom prst="wedgeRectCallout">
            <a:avLst>
              <a:gd name="adj1" fmla="val 58757"/>
              <a:gd name="adj2" fmla="val 3886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Verhaegen, M. and P. Dewilde. Subspace identification, part I: The output-error state space model identification class of algorithms.</a:t>
            </a:r>
          </a:p>
        </p:txBody>
      </p:sp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EF3A9DE0-8777-B5D3-5E09-8BFD229D291E}"/>
              </a:ext>
            </a:extLst>
          </p:cNvPr>
          <p:cNvSpPr/>
          <p:nvPr/>
        </p:nvSpPr>
        <p:spPr>
          <a:xfrm>
            <a:off x="148427" y="3338891"/>
            <a:ext cx="7467593" cy="538609"/>
          </a:xfrm>
          <a:prstGeom prst="wedgeRectCallout">
            <a:avLst>
              <a:gd name="adj1" fmla="val 58544"/>
              <a:gd name="adj2" fmla="val 44768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Van </a:t>
            </a:r>
            <a:r>
              <a:rPr lang="en-US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P. and B. De Moor. Subspace identification for linear systems: theory, implementation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applications.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2C1AE3-7FA9-0768-49A4-A271E526485D}"/>
              </a:ext>
            </a:extLst>
          </p:cNvPr>
          <p:cNvSpPr txBox="1"/>
          <p:nvPr/>
        </p:nvSpPr>
        <p:spPr>
          <a:xfrm>
            <a:off x="8305798" y="1272897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1978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766262C-9D4A-05F8-DC9C-B4B0EDA8A43D}"/>
              </a:ext>
            </a:extLst>
          </p:cNvPr>
          <p:cNvSpPr txBox="1"/>
          <p:nvPr/>
        </p:nvSpPr>
        <p:spPr>
          <a:xfrm>
            <a:off x="8305800" y="18404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1979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5726C7A-C8D6-0005-4817-2E0458339F3C}"/>
              </a:ext>
            </a:extLst>
          </p:cNvPr>
          <p:cNvSpPr txBox="1"/>
          <p:nvPr/>
        </p:nvSpPr>
        <p:spPr>
          <a:xfrm>
            <a:off x="8305800" y="24384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1989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5DD1D19-0A29-42F1-D987-F86EF816E7B9}"/>
              </a:ext>
            </a:extLst>
          </p:cNvPr>
          <p:cNvSpPr txBox="1"/>
          <p:nvPr/>
        </p:nvSpPr>
        <p:spPr>
          <a:xfrm>
            <a:off x="8305800" y="30480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1992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AA7EA63-0756-7059-627D-91E2888DADBF}"/>
              </a:ext>
            </a:extLst>
          </p:cNvPr>
          <p:cNvSpPr txBox="1"/>
          <p:nvPr/>
        </p:nvSpPr>
        <p:spPr>
          <a:xfrm>
            <a:off x="8305800" y="36576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1996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A592A5D6-2205-5283-1CC8-EA3227663E9D}"/>
              </a:ext>
            </a:extLst>
          </p:cNvPr>
          <p:cNvSpPr txBox="1"/>
          <p:nvPr/>
        </p:nvSpPr>
        <p:spPr>
          <a:xfrm>
            <a:off x="8305800" y="428189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1997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5D9B5297-442E-5E98-88E0-8BF916E6EBD8}"/>
              </a:ext>
            </a:extLst>
          </p:cNvPr>
          <p:cNvSpPr txBox="1"/>
          <p:nvPr/>
        </p:nvSpPr>
        <p:spPr>
          <a:xfrm>
            <a:off x="8305800" y="51170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1998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BFF634F-8CE1-A5A2-F8DE-FF455CB76FAC}"/>
              </a:ext>
            </a:extLst>
          </p:cNvPr>
          <p:cNvSpPr txBox="1"/>
          <p:nvPr/>
        </p:nvSpPr>
        <p:spPr>
          <a:xfrm>
            <a:off x="8305799" y="5708821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FF0000"/>
                </a:solidFill>
              </a:rPr>
              <a:t>1999</a:t>
            </a:r>
          </a:p>
        </p:txBody>
      </p:sp>
    </p:spTree>
    <p:extLst>
      <p:ext uri="{BB962C8B-B14F-4D97-AF65-F5344CB8AC3E}">
        <p14:creationId xmlns:p14="http://schemas.microsoft.com/office/powerpoint/2010/main" val="948229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9">
            <a:extLst>
              <a:ext uri="{FF2B5EF4-FFF2-40B4-BE49-F238E27FC236}">
                <a16:creationId xmlns:a16="http://schemas.microsoft.com/office/drawing/2014/main" id="{256F6C98-2463-7EF6-4F69-D74472642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11702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</a:t>
            </a:r>
            <a:r>
              <a:rPr lang="en-GB" dirty="0">
                <a:latin typeface="Arial Black" panose="020B0A04020102020204" pitchFamily="34" charset="0"/>
              </a:rPr>
              <a:t>from two</a:t>
            </a:r>
            <a:r>
              <a:rPr lang="en-GB" noProof="0" dirty="0">
                <a:latin typeface="Arial Black" panose="020B0A04020102020204" pitchFamily="34" charset="0"/>
              </a:rPr>
              <a:t> separated frameworks…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79F5A5C9-82C0-571E-BB7F-162CFFDE4BBD}"/>
              </a:ext>
            </a:extLst>
          </p:cNvPr>
          <p:cNvSpPr/>
          <p:nvPr/>
        </p:nvSpPr>
        <p:spPr>
          <a:xfrm>
            <a:off x="176793" y="1063580"/>
            <a:ext cx="5760000" cy="4651420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SSI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D061AC2-4B4A-2395-3910-844D57BD6740}"/>
              </a:ext>
            </a:extLst>
          </p:cNvPr>
          <p:cNvSpPr/>
          <p:nvPr/>
        </p:nvSpPr>
        <p:spPr>
          <a:xfrm>
            <a:off x="6172200" y="1063580"/>
            <a:ext cx="5760000" cy="4651420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it-IT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95D29C11-9067-7ABB-2F02-2B3D35430A5C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BF4FB094-3F74-E501-2B59-EF57A102CCB3}"/>
              </a:ext>
            </a:extLst>
          </p:cNvPr>
          <p:cNvSpPr/>
          <p:nvPr/>
        </p:nvSpPr>
        <p:spPr>
          <a:xfrm>
            <a:off x="541654" y="3565497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0" dirty="0">
                <a:solidFill>
                  <a:sysClr val="windowText" lastClr="000000"/>
                </a:solidFill>
              </a:rPr>
              <a:t>State space matrices A and C calculation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/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400" b="0" dirty="0">
                    <a:solidFill>
                      <a:sysClr val="windowText" lastClr="000000"/>
                    </a:solidFill>
                  </a:rPr>
                  <a:t>State space matrices </a:t>
                </a:r>
                <a:r>
                  <a:rPr lang="en-US" sz="2400" dirty="0">
                    <a:solidFill>
                      <a:sysClr val="windowText" lastClr="000000"/>
                    </a:solidFill>
                  </a:rPr>
                  <a:t>B and D, </a:t>
                </a:r>
                <a:br>
                  <a:rPr lang="en-US" sz="2400" dirty="0">
                    <a:solidFill>
                      <a:sysClr val="windowText" lastClr="000000"/>
                    </a:solidFill>
                  </a:rPr>
                </a:br>
                <a:r>
                  <a:rPr lang="en-US" sz="2400" dirty="0">
                    <a:solidFill>
                      <a:sysClr val="windowText" lastClr="000000"/>
                    </a:solidFill>
                  </a:rPr>
                  <a:t>initial state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it-IT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it-IT" sz="24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400" b="0" dirty="0">
                    <a:solidFill>
                      <a:sysClr val="windowText" lastClr="000000"/>
                    </a:solidFill>
                  </a:rPr>
                  <a:t>calculation</a:t>
                </a:r>
                <a:endParaRPr lang="en-US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3"/>
                <a:stretch>
                  <a:fillRect l="-1637" t="-950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B9DDAEC6-B90E-2FEE-DF11-863D80005FFB}"/>
              </a:ext>
            </a:extLst>
          </p:cNvPr>
          <p:cNvSpPr/>
          <p:nvPr/>
        </p:nvSpPr>
        <p:spPr>
          <a:xfrm>
            <a:off x="6459413" y="25146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LS problem and Model calculation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80FA5187-C2DA-BD98-DE3A-2E172CDEB7A2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US" sz="2400" dirty="0">
                <a:solidFill>
                  <a:sysClr val="windowText" lastClr="000000"/>
                </a:solidFill>
              </a:rPr>
              <a:t>preferred input</a:t>
            </a:r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F699B06A-5F60-57F1-42A2-A19E4E564FDF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359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5BD-FD0A-6CA6-17BE-FA543B3B9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904860A-4A7D-F42A-56C7-2C27837C872B}"/>
              </a:ext>
            </a:extLst>
          </p:cNvPr>
          <p:cNvSpPr/>
          <p:nvPr/>
        </p:nvSpPr>
        <p:spPr>
          <a:xfrm>
            <a:off x="176792" y="1063580"/>
            <a:ext cx="11786607" cy="4651420"/>
          </a:xfrm>
          <a:prstGeom prst="rect">
            <a:avLst/>
          </a:prstGeom>
          <a:solidFill>
            <a:srgbClr val="92D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it-IT" sz="2800" b="1" dirty="0">
                <a:solidFill>
                  <a:schemeClr val="tx1"/>
                </a:solidFill>
                <a:latin typeface="Arial Black" panose="020B0A04020102020204" pitchFamily="34" charset="0"/>
              </a:rPr>
              <a:t>SSI + MPC = SPC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it-IT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78EDBCA0-DEA3-B9E3-7A5B-9D8D4DE0EB13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69DDBD5B-FA39-2443-1F51-47D59956A73B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US" sz="2400" dirty="0">
                <a:solidFill>
                  <a:sysClr val="windowText" lastClr="000000"/>
                </a:solidFill>
              </a:rPr>
              <a:t>preferred input</a:t>
            </a:r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32FA1CE3-567B-D71C-54AD-8D27C853BEA0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US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/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𝑤</m:t>
                        </m:r>
                      </m:sub>
                    </m:sSub>
                    <m:r>
                      <a:rPr lang="it-IT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𝑢</m:t>
                        </m:r>
                      </m:sub>
                    </m:sSub>
                  </m:oMath>
                </a14:m>
                <a:endParaRPr lang="it-IT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blipFill>
                <a:blip r:embed="rId3"/>
                <a:stretch>
                  <a:fillRect l="-1431" b="-15217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olo 9">
            <a:extLst>
              <a:ext uri="{FF2B5EF4-FFF2-40B4-BE49-F238E27FC236}">
                <a16:creationId xmlns:a16="http://schemas.microsoft.com/office/drawing/2014/main" id="{EADE46E3-28D2-4F66-CBDC-9A3143F70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4394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</a:t>
            </a:r>
            <a:r>
              <a:rPr lang="en-GB" dirty="0">
                <a:latin typeface="Arial Black" panose="020B0A04020102020204" pitchFamily="34" charset="0"/>
              </a:rPr>
              <a:t>… to a unified framework</a:t>
            </a:r>
            <a:endParaRPr lang="en-GB" noProof="0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10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2000" y="1676400"/>
            <a:ext cx="9753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paper considers a LTI system of the form: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Where: 	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inputs			is the noise sequence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outputs		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  are the system states		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only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known 	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F5D2AB-A58A-DBB5-8FD6-A0048A0AA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09673"/>
            <a:ext cx="4535515" cy="103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>
            <a:extLst>
              <a:ext uri="{FF2B5EF4-FFF2-40B4-BE49-F238E27FC236}">
                <a16:creationId xmlns:a16="http://schemas.microsoft.com/office/drawing/2014/main" id="{22782CCD-2EDD-0D55-CB6A-90B8004B7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1200"/>
          <a:stretch>
            <a:fillRect/>
          </a:stretch>
        </p:blipFill>
        <p:spPr bwMode="auto">
          <a:xfrm>
            <a:off x="931333" y="4274956"/>
            <a:ext cx="1042987" cy="3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>
            <a:extLst>
              <a:ext uri="{FF2B5EF4-FFF2-40B4-BE49-F238E27FC236}">
                <a16:creationId xmlns:a16="http://schemas.microsoft.com/office/drawing/2014/main" id="{F2130169-7A62-2370-6033-AF59ED3C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16"/>
          <a:stretch>
            <a:fillRect/>
          </a:stretch>
        </p:blipFill>
        <p:spPr bwMode="auto">
          <a:xfrm>
            <a:off x="914401" y="4680626"/>
            <a:ext cx="1042988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>
            <a:extLst>
              <a:ext uri="{FF2B5EF4-FFF2-40B4-BE49-F238E27FC236}">
                <a16:creationId xmlns:a16="http://schemas.microsoft.com/office/drawing/2014/main" id="{155CD979-0889-241F-CF57-01126C645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9"/>
          <a:stretch>
            <a:fillRect/>
          </a:stretch>
        </p:blipFill>
        <p:spPr bwMode="auto">
          <a:xfrm>
            <a:off x="914401" y="5018928"/>
            <a:ext cx="1059920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04C8C31-9EE7-2A9B-EBD8-FEC10261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313058"/>
            <a:ext cx="222779" cy="32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4E0D3B-0AF6-84B0-7A69-CCAC1BA76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4343400"/>
            <a:ext cx="1039810" cy="253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664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B7DE3-51CD-6B5A-2B5E-0306F45D4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C25E8CD-460D-EA59-6695-FF3B1931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Block Hankel matrices definition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CB48FC-5C86-0F21-A5FE-DF198C688242}"/>
              </a:ext>
            </a:extLst>
          </p:cNvPr>
          <p:cNvSpPr txBox="1"/>
          <p:nvPr/>
        </p:nvSpPr>
        <p:spPr>
          <a:xfrm>
            <a:off x="762000" y="1676400"/>
            <a:ext cx="107442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algorithm starts by defining the block Hankel matrices for inputs, outputs and noise, assuming k= </a:t>
            </a:r>
            <a:r>
              <a:rPr lang="en-GB" sz="2400" dirty="0" err="1">
                <a:latin typeface="Arial" panose="020B0604020202020204" pitchFamily="34" charset="0"/>
                <a:cs typeface="Arial" panose="020B0604020202020204" pitchFamily="34" charset="0"/>
              </a:rPr>
              <a:t>N+M+j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 total samples for all three signals: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define the matrices			     in the same way.</a:t>
            </a:r>
          </a:p>
          <a:p>
            <a:pPr algn="just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p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represents “past” matrices, with M being the number of “past” data points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f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represents “future”	matrices, with N being the number of “future” data points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4F164D35-540F-683B-ECC3-C08E58382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2653755"/>
            <a:ext cx="4191000" cy="147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347E99B8-3CE4-4F97-7F95-CF09DA3AE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6774" y="2667000"/>
            <a:ext cx="4682226" cy="145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B787739-D46B-F10D-E3AA-16E4AC3E9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4646620"/>
            <a:ext cx="2514600" cy="46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05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53F32-E3E6-C505-8515-922310E3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953E27C-10B1-A2E6-6AC4-7B493C8B4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1615827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dirty="0">
                <a:latin typeface="Arial Black" panose="020B0A04020102020204" pitchFamily="34" charset="0"/>
              </a:rPr>
              <a:t>Defining the predictor and LS problem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past 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matrices we can build matrix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try to find a linear predictor of the outputs:</a:t>
                </a: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𝑈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To find this predictor we need to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solve the 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least squares problem:</a:t>
                </a: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blipFill>
                <a:blip r:embed="rId2"/>
                <a:stretch>
                  <a:fillRect l="-851" t="-1220" r="-794" b="-2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888B6C39-EA51-2423-9BBE-9407BF786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1559818"/>
            <a:ext cx="1752600" cy="69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9EE8198-8CC9-6E6C-4F5A-4252BDD11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2" y="4779069"/>
            <a:ext cx="7800975" cy="103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7728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C92A-4B12-4310-5445-23DD1B263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CCEDA94-E413-B429-A6A5-E9B625CE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Subspace Step 1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A28961-FE8E-DBE6-658C-1CF89EA111A0}"/>
              </a:ext>
            </a:extLst>
          </p:cNvPr>
          <p:cNvSpPr txBox="1"/>
          <p:nvPr/>
        </p:nvSpPr>
        <p:spPr>
          <a:xfrm>
            <a:off x="723900" y="1191645"/>
            <a:ext cx="107442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can solve the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Squares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QR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decomposition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like so</a:t>
            </a: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then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computing the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thus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E7E1F09-7C16-296C-4CF3-EFD91FD30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828800"/>
            <a:ext cx="6400799" cy="1822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3B6592E-7D46-D962-F6B1-82CF1B530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676830"/>
            <a:ext cx="4343400" cy="828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49A6B57-5CEE-C02B-D4BE-FCBA8BC3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4953000"/>
            <a:ext cx="3200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285E648B-7359-C131-0198-9CC822754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8" y="4953000"/>
            <a:ext cx="3492903" cy="533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772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D38E-E42A-794A-265F-EE9B02AF1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2E3A97D5-B71A-83F2-FF50-EEA420BD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Subspace Step 2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next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step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algotithm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execute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rank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-n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approximation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SVD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decomposition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(n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chosen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by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inspecting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singular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values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S):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Note: under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assumption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columns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		     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infinite		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there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direct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link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observability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matrix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Γ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state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blipFill>
                <a:blip r:embed="rId2"/>
                <a:stretch>
                  <a:fillRect l="-908" t="-1118" r="-851" b="-19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5BA532AF-A20F-2BC1-4CBE-CDD59562E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842" y="2385641"/>
            <a:ext cx="6527158" cy="127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>
            <a:extLst>
              <a:ext uri="{FF2B5EF4-FFF2-40B4-BE49-F238E27FC236}">
                <a16:creationId xmlns:a16="http://schemas.microsoft.com/office/drawing/2014/main" id="{D68969F2-E63F-B955-2D4F-6532313FE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200" y="3810000"/>
            <a:ext cx="1259253" cy="351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F8870000-4025-7FA0-A09D-3F6C8DDFD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4234149"/>
            <a:ext cx="770412" cy="26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>
            <a:extLst>
              <a:ext uri="{FF2B5EF4-FFF2-40B4-BE49-F238E27FC236}">
                <a16:creationId xmlns:a16="http://schemas.microsoft.com/office/drawing/2014/main" id="{CE28A8CE-E4CC-199A-A7D6-56874E14E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5029200"/>
            <a:ext cx="1964724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5" name="Picture 15">
            <a:extLst>
              <a:ext uri="{FF2B5EF4-FFF2-40B4-BE49-F238E27FC236}">
                <a16:creationId xmlns:a16="http://schemas.microsoft.com/office/drawing/2014/main" id="{208A52BD-01C4-AAF0-3F91-52838E9F9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5029200"/>
            <a:ext cx="3393822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/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18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dirty="0"/>
                  <a:t>is a Kalman filter estimate of</a:t>
                </a:r>
                <a14:m>
                  <m:oMath xmlns:m="http://schemas.openxmlformats.org/officeDocument/2006/math">
                    <m:r>
                      <a:rPr lang="it-IT" sz="1800" b="0" i="0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it-IT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blipFill>
                <a:blip r:embed="rId8"/>
                <a:stretch>
                  <a:fillRect t="-36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0267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50CC-0AE1-267D-FC4D-B9618FB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77C2024-14B5-7E65-430A-6F702AF43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MPC problem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idea of the MPC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algorithm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revolves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around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construction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a controller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minimizes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cost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function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 </a:t>
                </a: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it-IT" sz="32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it-IT" sz="32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it-IT" sz="3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it-IT" sz="3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it-IT" sz="3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3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it-IT" sz="4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In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this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context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reference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outputs,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while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estimated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outputs of the system,</a:t>
                </a:r>
                <a:r>
                  <a:rPr lang="it-IT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future input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, and Q and R are user-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defined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diagonal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weight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matrices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it-IT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blipFill>
                <a:blip r:embed="rId3"/>
                <a:stretch>
                  <a:fillRect l="-908" t="-818" r="-15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071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3C11E-7BCF-F721-1738-8FC042ABB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4A6EC3A-C7C0-E9D2-0113-1DBC7FBC5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Principle of </a:t>
            </a:r>
            <a:r>
              <a:rPr lang="en-GB" dirty="0">
                <a:latin typeface="Arial Black" panose="020B0A04020102020204" pitchFamily="34" charset="0"/>
              </a:rPr>
              <a:t>MPC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aim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find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feature control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minimizes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performance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criterion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J.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prediction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forward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horizon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on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basis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knowledge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backward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horizon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blipFill>
                <a:blip r:embed="rId3"/>
                <a:stretch>
                  <a:fillRect l="-908" t="-3042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linea, diagramma, schizzo, bianco&#10;&#10;Il contenuto generato dall'IA potrebbe non essere corretto.">
            <a:extLst>
              <a:ext uri="{FF2B5EF4-FFF2-40B4-BE49-F238E27FC236}">
                <a16:creationId xmlns:a16="http://schemas.microsoft.com/office/drawing/2014/main" id="{B222F164-CA94-95B8-F4E9-453919873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99" y="2624730"/>
            <a:ext cx="6381193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6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A748-8538-F760-9E6B-4F27E13A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760A000-055B-7F77-DE2E-D83FE64AA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</a:t>
            </a:r>
            <a:r>
              <a:rPr lang="en-GB" dirty="0">
                <a:latin typeface="Arial Black" panose="020B0A04020102020204" pitchFamily="34" charset="0"/>
              </a:rPr>
              <a:t> step 1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need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controller input,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past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inputs and outputs of the system:</a:t>
                </a: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it-IT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it-IT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it-IT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it-IT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it-IT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Where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M,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defined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previously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past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data points.</a:t>
                </a:r>
              </a:p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cost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function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 can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now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be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rewritten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it-IT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/>
                          </m:sSubSup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it-IT" sz="16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it-IT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e>
                        <m:sup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Sup>
                        <m:sSubSupPr>
                          <m:ctrlPr>
                            <a:rPr lang="it-IT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it-IT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it-IT" sz="2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it-IT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it-IT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blipFill>
                <a:blip r:embed="rId3"/>
                <a:stretch>
                  <a:fillRect l="-908" t="-1000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9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A103-772A-6F4E-43CD-BAD0F96A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99D7A1-39CC-A3DC-F5B5-B982E0711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</a:t>
            </a:r>
            <a:r>
              <a:rPr lang="en-GB" dirty="0">
                <a:latin typeface="Arial Black" panose="020B0A04020102020204" pitchFamily="34" charset="0"/>
              </a:rPr>
              <a:t> step 2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Now,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can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implement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first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imput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, of the SPC controller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can be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computed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𝑅</m:t>
                              </m:r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𝑄</m:t>
                              </m:r>
                              <m:sSub>
                                <m:sSub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−1</m:t>
                          </m:r>
                        </m:sup>
                      </m:sSup>
                      <m:sSubSup>
                        <m:sSub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repeat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these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last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steps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iteratively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implement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following control steps,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newly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measured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blipFill>
                <a:blip r:embed="rId2"/>
                <a:stretch>
                  <a:fillRect l="-908" t="-1370" r="-1589" b="-35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1124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</a:t>
            </a:r>
            <a:br>
              <a:rPr lang="en-GB" noProof="0" dirty="0">
                <a:latin typeface="Arial Black" panose="020B0A04020102020204" pitchFamily="34" charset="0"/>
              </a:rPr>
            </a:b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62000" y="1676400"/>
            <a:ext cx="9677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Note: while the paper does not treat the identification of residuals per se, the algorithm can be used to build a controller that somewhat counteracts disturbances or faults on the system, if rt is set to the desired plant output.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1173</Words>
  <Application>Microsoft Office PowerPoint</Application>
  <PresentationFormat>Widescreen</PresentationFormat>
  <Paragraphs>139</Paragraphs>
  <Slides>17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4" baseType="lpstr">
      <vt:lpstr>Aptos</vt:lpstr>
      <vt:lpstr>Arial</vt:lpstr>
      <vt:lpstr>Arial Black</vt:lpstr>
      <vt:lpstr>Cambria Math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Selected paper</vt:lpstr>
      <vt:lpstr>The References </vt:lpstr>
      <vt:lpstr>The Idea: from two separated frameworks…</vt:lpstr>
      <vt:lpstr>The Idea: … to a unified framework</vt:lpstr>
      <vt:lpstr>Problem setting –  context of application</vt:lpstr>
      <vt:lpstr>Proposed solution –   System setting</vt:lpstr>
      <vt:lpstr>Proposed solution –   Block Hankel matrices definition</vt:lpstr>
      <vt:lpstr>Proposed solution –   Defining the predictor and LS problem</vt:lpstr>
      <vt:lpstr>Proposed solution – Subspace Step 1</vt:lpstr>
      <vt:lpstr>Proposed solution – Subspace Step 2</vt:lpstr>
      <vt:lpstr>Proposed solution – MPC problem</vt:lpstr>
      <vt:lpstr>Proposed solution – Principle of MPC</vt:lpstr>
      <vt:lpstr>Proposed solution – Control step 1</vt:lpstr>
      <vt:lpstr>Proposed solution – Control step 2</vt:lpstr>
      <vt:lpstr>Practical implementation –  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GABRIELE MAZZOLENI</cp:lastModifiedBy>
  <cp:revision>188</cp:revision>
  <dcterms:created xsi:type="dcterms:W3CDTF">2025-06-12T18:24:46Z</dcterms:created>
  <dcterms:modified xsi:type="dcterms:W3CDTF">2025-12-29T15:56:52Z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