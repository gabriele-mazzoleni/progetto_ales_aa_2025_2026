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336" r:id="rId3"/>
    <p:sldId id="337" r:id="rId4"/>
    <p:sldId id="338" r:id="rId5"/>
    <p:sldId id="341" r:id="rId6"/>
    <p:sldId id="342" r:id="rId7"/>
    <p:sldId id="343" r:id="rId8"/>
    <p:sldId id="344" r:id="rId9"/>
    <p:sldId id="345" r:id="rId10"/>
    <p:sldId id="349" r:id="rId11"/>
    <p:sldId id="346" r:id="rId12"/>
    <p:sldId id="347" r:id="rId13"/>
    <p:sldId id="339" r:id="rId14"/>
    <p:sldId id="340" r:id="rId1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84" autoAdjust="0"/>
    <p:restoredTop sz="94660"/>
  </p:normalViewPr>
  <p:slideViewPr>
    <p:cSldViewPr>
      <p:cViewPr varScale="1">
        <p:scale>
          <a:sx n="90" d="100"/>
          <a:sy n="90" d="100"/>
        </p:scale>
        <p:origin x="466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F3C78-BFF9-4137-8833-13E3D0B09D8B}" type="datetimeFigureOut">
              <a:rPr lang="it-IT" smtClean="0"/>
              <a:t>27/12/2025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F9A5-25D9-4BE4-92E4-0A5AF102D313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9277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12/27/2025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12/27/2025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12/27/2025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12/27/2025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12/27/2025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62000" y="3"/>
            <a:ext cx="2564130" cy="127000"/>
          </a:xfrm>
          <a:custGeom>
            <a:avLst/>
            <a:gdLst/>
            <a:ahLst/>
            <a:cxnLst/>
            <a:rect l="l" t="t" r="r" b="b"/>
            <a:pathLst>
              <a:path w="2564129" h="127000">
                <a:moveTo>
                  <a:pt x="2563990" y="0"/>
                </a:moveTo>
                <a:lnTo>
                  <a:pt x="0" y="0"/>
                </a:lnTo>
                <a:lnTo>
                  <a:pt x="0" y="126996"/>
                </a:lnTo>
                <a:lnTo>
                  <a:pt x="2563990" y="126996"/>
                </a:lnTo>
                <a:lnTo>
                  <a:pt x="2563990" y="0"/>
                </a:lnTo>
                <a:close/>
              </a:path>
            </a:pathLst>
          </a:custGeom>
          <a:solidFill>
            <a:srgbClr val="CA674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096000"/>
            <a:ext cx="12191998" cy="761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51547" y="65532"/>
            <a:ext cx="7619763" cy="10175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84024" y="2064003"/>
            <a:ext cx="9448165" cy="26054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12/27/2025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8" cy="685164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605154" y="3021076"/>
            <a:ext cx="3434445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z="1200" spc="-10" noProof="0" dirty="0">
                <a:solidFill>
                  <a:srgbClr val="426EB0"/>
                </a:solidFill>
                <a:latin typeface="Franklin Gothic Medium"/>
                <a:cs typeface="Franklin Gothic Medium"/>
              </a:rPr>
              <a:t>Students</a:t>
            </a:r>
            <a:endParaRPr lang="en-GB" sz="12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 err="1">
                <a:solidFill>
                  <a:srgbClr val="FFFFFF"/>
                </a:solidFill>
                <a:latin typeface="Franklin Gothic Medium"/>
                <a:cs typeface="Franklin Gothic Medium"/>
              </a:rPr>
              <a:t>Comandatore</a:t>
            </a:r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 Gaetano- 1090952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07347" y="2743200"/>
            <a:ext cx="2289253" cy="20133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GB" sz="1200" noProof="0" dirty="0">
                <a:solidFill>
                  <a:srgbClr val="C96643"/>
                </a:solidFill>
                <a:latin typeface="Franklin Gothic Medium"/>
                <a:cs typeface="Franklin Gothic Medium"/>
              </a:rPr>
              <a:t>Computer science engineering</a:t>
            </a:r>
            <a:endParaRPr lang="en-GB" sz="1200" noProof="0" dirty="0">
              <a:latin typeface="Franklin Gothic Medium"/>
              <a:cs typeface="Franklin Gothic Medium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853566" y="2560827"/>
            <a:ext cx="6456190" cy="24134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3200" b="0" noProof="0" dirty="0">
                <a:solidFill>
                  <a:srgbClr val="FFFFFF"/>
                </a:solidFill>
                <a:latin typeface="Arial Black"/>
              </a:rPr>
              <a:t>SPC: Subspace Predictive Control</a:t>
            </a: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r>
              <a:rPr lang="en-GB" sz="2000" b="0" noProof="0" dirty="0">
                <a:solidFill>
                  <a:srgbClr val="FFFFFF"/>
                </a:solidFill>
                <a:latin typeface="Arial Black"/>
              </a:rPr>
              <a:t>Presentation for the course Adaptive Learning, Estimation and Supervision of dynamical systems (ALES)</a:t>
            </a:r>
            <a:endParaRPr lang="en-GB" sz="3200" b="0" noProof="0" dirty="0">
              <a:solidFill>
                <a:srgbClr val="FFFFFF"/>
              </a:solidFill>
              <a:latin typeface="Arial Bl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3566" y="5410200"/>
            <a:ext cx="3559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400" noProof="0" dirty="0">
                <a:solidFill>
                  <a:srgbClr val="FFFFFF"/>
                </a:solidFill>
                <a:latin typeface="Arial Black"/>
                <a:cs typeface="Arial Black"/>
              </a:rPr>
              <a:t>A.Y. 2025/2026</a:t>
            </a:r>
            <a:endParaRPr lang="en-GB" sz="2400" noProof="0" dirty="0">
              <a:latin typeface="Arial Black"/>
              <a:cs typeface="Arial Black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F36CE58-AAFE-238A-54E3-4AE5856774A5}"/>
              </a:ext>
            </a:extLst>
          </p:cNvPr>
          <p:cNvSpPr txBox="1"/>
          <p:nvPr/>
        </p:nvSpPr>
        <p:spPr>
          <a:xfrm>
            <a:off x="8605154" y="3468684"/>
            <a:ext cx="3434445" cy="256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870"/>
              </a:lnSpc>
            </a:pPr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Mazzoleni Gabriele - 1079514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BBF1D-1F5E-BF87-3774-E0C37D0E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49BF47E-C162-179C-D3F1-281638D0D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selected paper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10EBCA-39BF-8FE7-E254-D5B99F97EE2E}"/>
              </a:ext>
            </a:extLst>
          </p:cNvPr>
          <p:cNvSpPr txBox="1"/>
          <p:nvPr/>
        </p:nvSpPr>
        <p:spPr>
          <a:xfrm>
            <a:off x="762000" y="1676400"/>
            <a:ext cx="96774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following presentation as an analysis and implementation of the contents of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“SPC: Subspace Prediction Control”,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by Wouter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Favoreel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, Bart De Moor and Michel Gevers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This paper aims to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“combine Subspace Identification and Model Predictive Control methods in a very elegant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ay to form a numerically robust and easily implementable control/identification algorithm”. 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105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8222F-1461-7BFE-6657-A8744E1E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BA8D8462-C72A-3FC4-9607-F2AEE8C64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context of application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C3A9D56-9CA0-38A9-0194-6995CE6AD34B}"/>
              </a:ext>
            </a:extLst>
          </p:cNvPr>
          <p:cNvSpPr txBox="1"/>
          <p:nvPr/>
        </p:nvSpPr>
        <p:spPr>
          <a:xfrm>
            <a:off x="762000" y="1676400"/>
            <a:ext cx="96774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Subspace System Identification and Model Predictive Control are two widely studied and applied methods to solve two problems that are usually considered separate: these problems being system identification and system control.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SPC method aims to replace the system identification step and the calculation of the controller parameters with a QR decomposition followed by an SVD decomposition of a matrix that is constructed using known inputs and outputs only, combining the two solution to two problems into an elegant solution  for one big problem.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4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3813E-68A3-28F5-C92E-8C261584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C2287B64-819A-222C-D66C-9E7F168C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System setting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49EC1B8-EC3A-FA81-4CFB-7D1041980CA9}"/>
              </a:ext>
            </a:extLst>
          </p:cNvPr>
          <p:cNvSpPr txBox="1"/>
          <p:nvPr/>
        </p:nvSpPr>
        <p:spPr>
          <a:xfrm>
            <a:off x="762000" y="1676400"/>
            <a:ext cx="9753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paper considers a LTI system of the form: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Where: 	</a:t>
            </a: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	  are the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system inputs			is the noise sequence</a:t>
            </a: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	  are the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system outputs		</a:t>
            </a: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	  are the system states		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only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known 	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F5D2AB-A58A-DBB5-8FD6-A0048A0AAD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2409673"/>
            <a:ext cx="4535515" cy="1036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3">
            <a:extLst>
              <a:ext uri="{FF2B5EF4-FFF2-40B4-BE49-F238E27FC236}">
                <a16:creationId xmlns:a16="http://schemas.microsoft.com/office/drawing/2014/main" id="{22782CCD-2EDD-0D55-CB6A-90B8004B79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11200"/>
          <a:stretch>
            <a:fillRect/>
          </a:stretch>
        </p:blipFill>
        <p:spPr bwMode="auto">
          <a:xfrm>
            <a:off x="931333" y="4274956"/>
            <a:ext cx="1042987" cy="3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15">
            <a:extLst>
              <a:ext uri="{FF2B5EF4-FFF2-40B4-BE49-F238E27FC236}">
                <a16:creationId xmlns:a16="http://schemas.microsoft.com/office/drawing/2014/main" id="{F2130169-7A62-2370-6033-AF59ED3C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916"/>
          <a:stretch>
            <a:fillRect/>
          </a:stretch>
        </p:blipFill>
        <p:spPr bwMode="auto">
          <a:xfrm>
            <a:off x="914401" y="4680626"/>
            <a:ext cx="1042988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7">
            <a:extLst>
              <a:ext uri="{FF2B5EF4-FFF2-40B4-BE49-F238E27FC236}">
                <a16:creationId xmlns:a16="http://schemas.microsoft.com/office/drawing/2014/main" id="{155CD979-0889-241F-CF57-01126C645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19"/>
          <a:stretch>
            <a:fillRect/>
          </a:stretch>
        </p:blipFill>
        <p:spPr bwMode="auto">
          <a:xfrm>
            <a:off x="914401" y="5018928"/>
            <a:ext cx="1059920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804C8C31-9EE7-2A9B-EBD8-FEC10261F0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313058"/>
            <a:ext cx="222779" cy="32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64E0D3B-0AF6-84B0-7A69-CCAC1BA76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4343400"/>
            <a:ext cx="1039810" cy="253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0664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B7DE3-51CD-6B5A-2B5E-0306F45D4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C25E8CD-460D-EA59-6695-FF3B1931B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Block Hankel matrices definition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9CB48FC-5C86-0F21-A5FE-DF198C688242}"/>
              </a:ext>
            </a:extLst>
          </p:cNvPr>
          <p:cNvSpPr txBox="1"/>
          <p:nvPr/>
        </p:nvSpPr>
        <p:spPr>
          <a:xfrm>
            <a:off x="762000" y="1676400"/>
            <a:ext cx="107442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SPC algorithm starts by defining the block Hankel matrices for inputs, outputs and noise, assuming k= </a:t>
            </a:r>
            <a:r>
              <a:rPr lang="en-GB" sz="2400" dirty="0" err="1">
                <a:latin typeface="Arial" panose="020B0604020202020204" pitchFamily="34" charset="0"/>
                <a:cs typeface="Arial" panose="020B0604020202020204" pitchFamily="34" charset="0"/>
              </a:rPr>
              <a:t>N+M+j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 total samples for all three signals:</a:t>
            </a: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We define the matrices			     in the same way.</a:t>
            </a:r>
          </a:p>
          <a:p>
            <a:pPr algn="just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p 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represents “past” matrices, with M being the number of “past” data points</a:t>
            </a:r>
          </a:p>
          <a:p>
            <a:pPr algn="just"/>
            <a:r>
              <a:rPr lang="en-GB" sz="2400" i="1" dirty="0">
                <a:latin typeface="Arial" panose="020B0604020202020204" pitchFamily="34" charset="0"/>
                <a:cs typeface="Arial" panose="020B0604020202020204" pitchFamily="34" charset="0"/>
              </a:rPr>
              <a:t>f 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represents “future”	matrices, with N being the number of “future” data points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3" name="Picture 5">
            <a:extLst>
              <a:ext uri="{FF2B5EF4-FFF2-40B4-BE49-F238E27FC236}">
                <a16:creationId xmlns:a16="http://schemas.microsoft.com/office/drawing/2014/main" id="{4F164D35-540F-683B-ECC3-C08E58382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" y="2653755"/>
            <a:ext cx="4191000" cy="1478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347E99B8-3CE4-4F97-7F95-CF09DA3AE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6774" y="2667000"/>
            <a:ext cx="4682226" cy="145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5B787739-D46B-F10D-E3AA-16E4AC3E9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0" y="4646620"/>
            <a:ext cx="2514600" cy="46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9057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53F32-E3E6-C505-8515-922310E3D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953E27C-10B1-A2E6-6AC4-7B493C8B4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1615827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dirty="0">
                <a:latin typeface="Arial Black" panose="020B0A04020102020204" pitchFamily="34" charset="0"/>
              </a:rPr>
              <a:t>Defining the predictor and LS problem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A9F1D71B-7C26-282E-A5F7-6C13EFA9D5D8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744200" cy="3498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Using past </a:t>
                </a: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matrices we can build matrix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try to find a linear predictor of the outputs:</a:t>
                </a:r>
              </a:p>
              <a:p>
                <a:pPr algn="just"/>
                <a:endParaRPr lang="en-GB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it-IT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𝑊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𝑝</m:t>
                          </m:r>
                        </m:sub>
                      </m:sSub>
                      <m:r>
                        <a:rPr lang="it-IT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sub>
                      </m:sSub>
                      <m:sSub>
                        <m:sSubPr>
                          <m:ctrlP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𝑈</m:t>
                          </m:r>
                        </m:e>
                        <m:sub>
                          <m:r>
                            <a:rPr lang="it-IT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To find this predictor we need to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that solve the </a:t>
                </a: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least squares problem:</a:t>
                </a:r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A9F1D71B-7C26-282E-A5F7-6C13EFA9D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744200" cy="3498650"/>
              </a:xfrm>
              <a:prstGeom prst="rect">
                <a:avLst/>
              </a:prstGeom>
              <a:blipFill>
                <a:blip r:embed="rId2"/>
                <a:stretch>
                  <a:fillRect l="-851" t="-1220" r="-794" b="-2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>
            <a:extLst>
              <a:ext uri="{FF2B5EF4-FFF2-40B4-BE49-F238E27FC236}">
                <a16:creationId xmlns:a16="http://schemas.microsoft.com/office/drawing/2014/main" id="{888B6C39-EA51-2423-9BBE-9407BF786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0" y="1559818"/>
            <a:ext cx="1752600" cy="69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49EE8198-8CC9-6E6C-4F5A-4252BDD11C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2712" y="4779069"/>
            <a:ext cx="7800975" cy="1038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7728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DC92A-4B12-4310-5445-23DD1B263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CCEDA94-E413-B429-A6A5-E9B625CE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r>
              <a:rPr lang="en-GB" dirty="0">
                <a:latin typeface="Arial Black" panose="020B0A04020102020204" pitchFamily="34" charset="0"/>
              </a:rPr>
              <a:t>Subspace Step 1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7A28961-FE8E-DBE6-658C-1CF89EA111A0}"/>
              </a:ext>
            </a:extLst>
          </p:cNvPr>
          <p:cNvSpPr txBox="1"/>
          <p:nvPr/>
        </p:nvSpPr>
        <p:spPr>
          <a:xfrm>
            <a:off x="723900" y="1191645"/>
            <a:ext cx="107442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can solve the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Least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Squares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using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QR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decomposition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like so</a:t>
            </a: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then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computing the </a:t>
            </a:r>
            <a:r>
              <a:rPr lang="it-IT" sz="2400" dirty="0" err="1">
                <a:latin typeface="Arial" panose="020B0604020202020204" pitchFamily="34" charset="0"/>
                <a:cs typeface="Arial" panose="020B0604020202020204" pitchFamily="34" charset="0"/>
              </a:rPr>
              <a:t>matrix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thus</a:t>
            </a:r>
            <a:r>
              <a:rPr lang="it-IT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E7E1F09-7C16-296C-4CF3-EFD91FD30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828800"/>
            <a:ext cx="6400799" cy="1822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03B6592E-7D46-D962-F6B1-82CF1B530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3676830"/>
            <a:ext cx="4343400" cy="828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149A6B57-5CEE-C02B-D4BE-FCBA8BC3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0" y="4953000"/>
            <a:ext cx="3200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285E648B-7359-C131-0198-9CC822754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748" y="4953000"/>
            <a:ext cx="3492903" cy="533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7720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1D38E-E42A-794A-265F-EE9B02AF1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2E3A97D5-B71A-83F2-FF50-EEA420BD9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r>
              <a:rPr lang="en-GB" dirty="0">
                <a:latin typeface="Arial Black" panose="020B0A04020102020204" pitchFamily="34" charset="0"/>
              </a:rPr>
              <a:t>Subspace Step 2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38152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next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step of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algotithm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execute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rank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-n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approximation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using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SVD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decomposition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(n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chosen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by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inspecting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number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singular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values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S):</a:t>
                </a: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Note: under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assumption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number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columns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of		     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infinite		,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there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direct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link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between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observability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matrix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Γ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the state </a:t>
                </a:r>
                <a:r>
                  <a:rPr lang="it-IT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sequence</a:t>
                </a:r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it-IT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3815275"/>
              </a:xfrm>
              <a:prstGeom prst="rect">
                <a:avLst/>
              </a:prstGeom>
              <a:blipFill>
                <a:blip r:embed="rId2"/>
                <a:stretch>
                  <a:fillRect l="-908" t="-1118" r="-851" b="-19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5BA532AF-A20F-2BC1-4CBE-CDD59562E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842" y="2385641"/>
            <a:ext cx="6527158" cy="1271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7" name="Picture 7">
            <a:extLst>
              <a:ext uri="{FF2B5EF4-FFF2-40B4-BE49-F238E27FC236}">
                <a16:creationId xmlns:a16="http://schemas.microsoft.com/office/drawing/2014/main" id="{D68969F2-E63F-B955-2D4F-6532313FE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9200" y="3810000"/>
            <a:ext cx="1259253" cy="351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F8870000-4025-7FA0-A09D-3F6C8DDFD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4234149"/>
            <a:ext cx="770412" cy="261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4" name="Picture 14">
            <a:extLst>
              <a:ext uri="{FF2B5EF4-FFF2-40B4-BE49-F238E27FC236}">
                <a16:creationId xmlns:a16="http://schemas.microsoft.com/office/drawing/2014/main" id="{CE28A8CE-E4CC-199A-A7D6-56874E14E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" y="5029200"/>
            <a:ext cx="1964724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5" name="Picture 15">
            <a:extLst>
              <a:ext uri="{FF2B5EF4-FFF2-40B4-BE49-F238E27FC236}">
                <a16:creationId xmlns:a16="http://schemas.microsoft.com/office/drawing/2014/main" id="{208A52BD-01C4-AAF0-3F91-52838E9F9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5029200"/>
            <a:ext cx="3393822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/>
              <p:nvPr/>
            </p:nvSpPr>
            <p:spPr>
              <a:xfrm>
                <a:off x="7239000" y="5105400"/>
                <a:ext cx="4229100" cy="6823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it-IT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it-IT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it-IT" sz="18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dirty="0"/>
                  <a:t>is a Kalman filter estimate of</a:t>
                </a:r>
                <a14:m>
                  <m:oMath xmlns:m="http://schemas.openxmlformats.org/officeDocument/2006/math">
                    <m:r>
                      <a:rPr lang="it-IT" sz="1800" b="0" i="0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sSub>
                      <m:sSubPr>
                        <m:ctrlPr>
                          <a:rPr lang="it-IT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it-IT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it-IT" dirty="0"/>
              </a:p>
            </p:txBody>
          </p:sp>
        </mc:Choice>
        <mc:Fallback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0" y="5105400"/>
                <a:ext cx="4229100" cy="682366"/>
              </a:xfrm>
              <a:prstGeom prst="rect">
                <a:avLst/>
              </a:prstGeom>
              <a:blipFill>
                <a:blip r:embed="rId8"/>
                <a:stretch>
                  <a:fillRect t="-360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0267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E50CC-0AE1-267D-FC4D-B9618FB63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77C2024-14B5-7E65-430A-6F702AF43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dirty="0">
                <a:latin typeface="Arial Black" panose="020B0A04020102020204" pitchFamily="34" charset="0"/>
              </a:rPr>
              <a:t>defining MPC problem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/>
              <p:nvPr/>
            </p:nvSpPr>
            <p:spPr>
              <a:xfrm>
                <a:off x="723900" y="1683603"/>
                <a:ext cx="10744200" cy="41308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idea of the MPC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portion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algorithm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revolves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around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construction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a controller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that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minimizes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cost </a:t>
                </a:r>
                <a:r>
                  <a:rPr lang="it-I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function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J </a:t>
                </a: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𝐾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it-IT" sz="24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it-IT" sz="24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it-IT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it-IT" sz="2400" b="0" i="1" smtClean="0">
                                              <a:latin typeface="Cambria Math" panose="02040503050406030204" pitchFamily="18" charset="0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it-IT" sz="2400" b="0" i="1" smtClean="0">
                                              <a:latin typeface="Cambria Math" panose="02040503050406030204" pitchFamily="18" charset="0"/>
                                              <a:cs typeface="Arial" panose="020B0604020202020204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it-IT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𝑘</m:t>
                                      </m:r>
                                    </m:sub>
                                    <m:sup/>
                                  </m:sSubSup>
                                  <m:r>
                                    <a:rPr lang="it-IT" sz="24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it-IT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it-IT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it-IT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𝑘</m:t>
                                      </m:r>
                                    </m:sub>
                                    <m:sup/>
                                  </m:sSubSup>
                                </m:e>
                              </m:d>
                            </m:e>
                            <m:sup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∗</m:t>
                          </m:r>
                          <m:sSub>
                            <m:sSubPr>
                              <m:ctrlPr>
                                <a:rPr lang="it-IT" sz="24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it-IT" sz="24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̂"/>
                                  <m:ctrlPr>
                                    <a:rPr lang="it-IT" sz="24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accPr>
                                <m:e>
                                  <m:r>
                                    <a:rPr lang="it-IT" sz="24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𝑘</m:t>
                              </m:r>
                            </m:sub>
                            <m:sup/>
                          </m:sSubSup>
                          <m: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it-IT" sz="24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𝑘</m:t>
                              </m:r>
                            </m:sub>
                            <m:sup/>
                          </m:sSubSup>
                        </m:e>
                      </m:d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𝑘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In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this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context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the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reference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outputs,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while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the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estimated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outputs of the system, and Q and R are user-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defined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diagonal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weight </a:t>
                </a:r>
                <a:r>
                  <a:rPr lang="it-IT" sz="2400" b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matrices</a:t>
                </a: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just"/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683603"/>
                <a:ext cx="10744200" cy="4130811"/>
              </a:xfrm>
              <a:prstGeom prst="rect">
                <a:avLst/>
              </a:prstGeom>
              <a:blipFill>
                <a:blip r:embed="rId2"/>
                <a:stretch>
                  <a:fillRect l="-908" t="-1032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071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A748-8538-F760-9E6B-4F27E13A3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760A000-055B-7F77-DE2E-D83FE64AA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r>
              <a:rPr lang="en-GB" dirty="0">
                <a:latin typeface="Arial Black" panose="020B0A04020102020204" pitchFamily="34" charset="0"/>
              </a:rPr>
              <a:t>MPC step 1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367F24C-DB9D-043A-C3E0-240A6426CF81}"/>
              </a:ext>
            </a:extLst>
          </p:cNvPr>
          <p:cNvSpPr txBox="1"/>
          <p:nvPr/>
        </p:nvSpPr>
        <p:spPr>
          <a:xfrm>
            <a:off x="723900" y="1191645"/>
            <a:ext cx="10744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AAA</a:t>
            </a:r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1629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2A103-772A-6F4E-43CD-BAD0F96AE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B99D7A1-39CC-A3DC-F5B5-B982E0711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r>
              <a:rPr lang="en-GB" dirty="0">
                <a:latin typeface="Arial Black" panose="020B0A04020102020204" pitchFamily="34" charset="0"/>
              </a:rPr>
              <a:t>MPC step 2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AD414A0-A715-1469-0125-37B4B3F31316}"/>
              </a:ext>
            </a:extLst>
          </p:cNvPr>
          <p:cNvSpPr txBox="1"/>
          <p:nvPr/>
        </p:nvSpPr>
        <p:spPr>
          <a:xfrm>
            <a:off x="723900" y="1191645"/>
            <a:ext cx="10744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AAA</a:t>
            </a:r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124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59C14-EBB6-6344-2910-2927E71A6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D2762B76-6482-5725-B41E-FD5833AEE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</a:t>
            </a:r>
            <a:r>
              <a:rPr lang="en-GB" dirty="0">
                <a:latin typeface="Arial Black" panose="020B0A04020102020204" pitchFamily="34" charset="0"/>
              </a:rPr>
              <a:t>MPC step 3</a:t>
            </a: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A93BD2B-FED2-0A1F-5ED0-9735CB6DBB4E}"/>
              </a:ext>
            </a:extLst>
          </p:cNvPr>
          <p:cNvSpPr txBox="1"/>
          <p:nvPr/>
        </p:nvSpPr>
        <p:spPr>
          <a:xfrm>
            <a:off x="723900" y="1191645"/>
            <a:ext cx="10744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AAA</a:t>
            </a:r>
            <a:endParaRPr lang="it-IT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75486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5A212-F7F3-E3A6-4384-717E60898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8895E181-0BB5-68A0-F54D-4F4FCCFB8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</a:t>
            </a:r>
            <a:br>
              <a:rPr lang="en-GB" noProof="0" dirty="0">
                <a:latin typeface="Arial Black" panose="020B0A04020102020204" pitchFamily="34" charset="0"/>
              </a:rPr>
            </a:br>
            <a:endParaRPr lang="en-GB" noProof="0" dirty="0">
              <a:latin typeface="Arial Black" panose="020B0A04020102020204" pitchFamily="34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E214AF7-BD5F-1697-AC34-4C091718BD70}"/>
              </a:ext>
            </a:extLst>
          </p:cNvPr>
          <p:cNvSpPr txBox="1"/>
          <p:nvPr/>
        </p:nvSpPr>
        <p:spPr>
          <a:xfrm>
            <a:off x="762000" y="1676400"/>
            <a:ext cx="9677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4305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FD052-A6E4-4EA3-40C9-0D7F9ED82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4853C74-3D76-BB45-5EBD-2082D50CC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2E4F1D8-6E3E-1635-DEBC-9C2A6FBDE9CC}"/>
              </a:ext>
            </a:extLst>
          </p:cNvPr>
          <p:cNvSpPr txBox="1"/>
          <p:nvPr/>
        </p:nvSpPr>
        <p:spPr>
          <a:xfrm>
            <a:off x="762000" y="1676400"/>
            <a:ext cx="9677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GB" sz="24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4619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5B6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603</Words>
  <Application>Microsoft Office PowerPoint</Application>
  <PresentationFormat>Widescreen</PresentationFormat>
  <Paragraphs>81</Paragraphs>
  <Slides>14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21" baseType="lpstr">
      <vt:lpstr>Aptos</vt:lpstr>
      <vt:lpstr>Arial</vt:lpstr>
      <vt:lpstr>Arial Black</vt:lpstr>
      <vt:lpstr>Cambria Math</vt:lpstr>
      <vt:lpstr>Franklin Gothic Medium</vt:lpstr>
      <vt:lpstr>Trebuchet MS</vt:lpstr>
      <vt:lpstr>Office Theme</vt:lpstr>
      <vt:lpstr>SPC: Subspace Predictive Control  Presentation for the course Adaptive Learning, Estimation and Supervision of dynamical systems (ALES)</vt:lpstr>
      <vt:lpstr>Problem setting – selected paper</vt:lpstr>
      <vt:lpstr>Problem setting –  context of application</vt:lpstr>
      <vt:lpstr>Proposed solution –   System setting</vt:lpstr>
      <vt:lpstr>Proposed solution –   Block Hankel matrices definition</vt:lpstr>
      <vt:lpstr>Proposed solution –   Defining the predictor and LS problem</vt:lpstr>
      <vt:lpstr>Proposed solution – Subspace Step 1</vt:lpstr>
      <vt:lpstr>Proposed solution – Subspace Step 2</vt:lpstr>
      <vt:lpstr>Proposed solution –  defining MPC problem</vt:lpstr>
      <vt:lpstr>Proposed solution – MPC step 1</vt:lpstr>
      <vt:lpstr>Proposed solution – MPC step 2</vt:lpstr>
      <vt:lpstr>Proposed solution – MPC step 3</vt:lpstr>
      <vt:lpstr>Practical implementation –  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Gabriele Mazzoleni</dc:creator>
  <cp:lastModifiedBy>GABRIELE MAZZOLENI</cp:lastModifiedBy>
  <cp:revision>164</cp:revision>
  <dcterms:created xsi:type="dcterms:W3CDTF">2025-06-12T18:24:46Z</dcterms:created>
  <dcterms:modified xsi:type="dcterms:W3CDTF">2025-12-27T18:12:55Z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2025-02-24T00:00:00Z</vt:filetime>
  </property>
  <property fmtid="{D5CDD505-2E9C-101B-9397-08002B2CF9AE}" pid="3" name="LastSaved">
    <vt:filetime>2025-06-12T00:00:00Z</vt:filetime>
  </property>
  <property fmtid="{D5CDD505-2E9C-101B-9397-08002B2CF9AE}" pid="4" name="Producer">
    <vt:lpwstr>macOS Versione 15.3.1 (Build 24D70) Quartz PDFContext</vt:lpwstr>
  </property>
</Properties>
</file>