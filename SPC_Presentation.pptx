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336" r:id="rId3"/>
    <p:sldId id="351" r:id="rId4"/>
    <p:sldId id="352" r:id="rId5"/>
    <p:sldId id="353" r:id="rId6"/>
    <p:sldId id="337" r:id="rId7"/>
    <p:sldId id="338" r:id="rId8"/>
    <p:sldId id="341" r:id="rId9"/>
    <p:sldId id="342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54" r:id="rId18"/>
    <p:sldId id="355" r:id="rId19"/>
    <p:sldId id="356" r:id="rId20"/>
    <p:sldId id="357" r:id="rId21"/>
    <p:sldId id="358" r:id="rId22"/>
    <p:sldId id="361" r:id="rId23"/>
    <p:sldId id="359" r:id="rId24"/>
    <p:sldId id="363" r:id="rId25"/>
    <p:sldId id="360" r:id="rId26"/>
    <p:sldId id="362" r:id="rId27"/>
    <p:sldId id="340" r:id="rId2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03/01/2026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way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GB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Prett and M. Morari.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- a survey.</a:t>
            </a: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GB" noProof="0" dirty="0">
                <a:solidFill>
                  <a:schemeClr val="tx1"/>
                </a:solidFill>
              </a:rPr>
              <a:t>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from two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b="0" noProof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GB" sz="2400" noProof="0" dirty="0">
                    <a:solidFill>
                      <a:sysClr val="windowText" lastClr="000000"/>
                    </a:solidFill>
                  </a:rPr>
                </a:b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… to a unified framework</a:t>
            </a: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inputs			is the noise sequence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outputs		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Defining the predictor and LS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least squares problem: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1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solve the Least Squares problem using QR decomposition like so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then computing the matrix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thus: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next step of the 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to execute a rank-n approximation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SVD decomposition (n is chosen by inspecting the number of singular values of S):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assumption that the number of columns of		      is infinite		, there is a direct link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observability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noProof="0" dirty="0"/>
                  <a:t>is a Kalman filter estimate of</a:t>
                </a:r>
                <a14:m>
                  <m:oMath xmlns:m="http://schemas.openxmlformats.org/officeDocument/2006/math">
                    <m:r>
                      <a:rPr lang="en-GB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MPC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portion of the algorithm revolves around the construction of a controller that minimizes a cost function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40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context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reference outputs,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estimated outputs of the system,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sequence, and Q and R are user- defined diagonal weight matrices.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aim is to find the feature control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minimizes the performance criterion J. The prediction of the forward horizon is done on the basis of the knowledge of the backward horizon.</a:t>
                </a:r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blipFill>
                <a:blip r:embed="rId3"/>
                <a:stretch>
                  <a:fillRect l="-908" t="-304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262473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need to define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using the past inputs and outputs of the system: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M, as defined previously, is the number of past data points.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function J can now be rewritten as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GB" sz="20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GB" sz="20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en-GB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/>
                          </m:sSubSup>
                          <m:r>
                            <a:rPr lang="en-GB" sz="1600" b="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en-GB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en-GB" sz="16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Sup>
                        <m:sSubSupPr>
                          <m:ctrlPr>
                            <a:rPr lang="en-GB" sz="28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8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8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blipFill>
                <a:blip r:embed="rId3"/>
                <a:stretch>
                  <a:fillRect l="-908" t="-1000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we can implement the first 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imput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that can be computed as: 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𝑅</m:t>
                              </m:r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  <m:sSub>
                                <m:sSubPr>
                                  <m:ctrlP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−1</m:t>
                          </m:r>
                        </m:sup>
                      </m:sSup>
                      <m:sSubSup>
                        <m:sSubSup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  <m:sup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repeat these last two steps iteratively to implement the following control steps, using the newly measured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blipFill>
                <a:blip r:embed="rId2"/>
                <a:stretch>
                  <a:fillRect l="-908" t="-1370" r="-851" b="-35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implementation of the algorithm began by defining the LTI MIMO system to be utilized; we decided to use the following parameters and matrices: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45E8376-E15B-BA04-D3D3-3E36991F3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95600"/>
            <a:ext cx="6019800" cy="303214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80EDE38C-35CF-DD8A-2B5B-F2C6B592AE5D}"/>
              </a:ext>
            </a:extLst>
          </p:cNvPr>
          <p:cNvSpPr txBox="1"/>
          <p:nvPr/>
        </p:nvSpPr>
        <p:spPr>
          <a:xfrm>
            <a:off x="7086600" y="4724400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The input signals chosen were two PRBS, to ensure persistent excitation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424C-B290-B03B-55D1-C9265E154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FFD409-A334-5DB8-496B-473C2C587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Hankel Block matrices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AE0948-69BC-85B8-A522-FB3B59477858}"/>
              </a:ext>
            </a:extLst>
          </p:cNvPr>
          <p:cNvSpPr txBox="1"/>
          <p:nvPr/>
        </p:nvSpPr>
        <p:spPr>
          <a:xfrm>
            <a:off x="762000" y="1676400"/>
            <a:ext cx="10134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Afterwards, we constructed the past and future Hankel block matrices for input and output signals, as explained in the algorithm.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D69DCD5-EA63-9A63-070D-FC81A1A26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17696"/>
            <a:ext cx="8834201" cy="286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17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D5B2-8228-D7EE-D5C3-A7A8F9E5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C340061-9980-936A-65E8-8608935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SSI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2706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As previously illustrated, we used past Hankel matrices to build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compute QR decomposition to obtain L.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2706190"/>
              </a:xfrm>
              <a:prstGeom prst="rect">
                <a:avLst/>
              </a:prstGeom>
              <a:blipFill>
                <a:blip r:embed="rId2"/>
                <a:stretch>
                  <a:fillRect l="-902" t="-180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D4DD9FF-BB92-1651-1C65-9887B3BE0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98630"/>
            <a:ext cx="7064352" cy="219257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417FEA0-CDB6-4D3D-D73C-1FFB76EC79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37390"/>
            <a:ext cx="7064352" cy="86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778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1491-692F-7CC0-D705-F015AFF5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D752CDB-3887-9887-AE35-DA4C5802B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Estimation of system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estimate the system’s order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after applying SVD decomposition on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by looking at the singular values of matrix S1.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decided to use a </a:t>
                </a:r>
                <a:r>
                  <a:rPr lang="en-GB" sz="2400" noProof="0" dirty="0"/>
                  <a:t>cumulative energy criterion to evaluate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automatically, by picking </a:t>
                </a:r>
                <a:r>
                  <a:rPr lang="en-GB" sz="2400" noProof="0" dirty="0"/>
                  <a:t>the smallest integer such that the cumulative sum of the squared singular values accounts for at least 95% of the total energy.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blipFill>
                <a:blip r:embed="rId2"/>
                <a:stretch>
                  <a:fillRect l="-902" t="-943" r="-37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FA0D3FF-DD37-DAFF-95E9-1631B0AB5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4114800"/>
            <a:ext cx="4800600" cy="1662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539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E082-FFFA-7779-6229-78A6BF9D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1519D1F-263B-AF81-752D-F61F7DE0F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Plotting the prediction performance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58E9DF5-5D4E-4C05-75D5-71047A6C2AD9}"/>
              </a:ext>
            </a:extLst>
          </p:cNvPr>
          <p:cNvSpPr txBox="1"/>
          <p:nvPr/>
        </p:nvSpPr>
        <p:spPr>
          <a:xfrm>
            <a:off x="762000" y="1676400"/>
            <a:ext cx="10134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predicted output can be calculated as: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compared it to the output generated by the actual system.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EA7DC3D-1D44-2762-5C2E-62109223B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600200"/>
            <a:ext cx="3773714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99D9F99-7920-C0E4-D436-367C351DF7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59605"/>
            <a:ext cx="5615762" cy="2508703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21CCC16-6DC9-A299-C303-99D710CBEB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819400"/>
            <a:ext cx="5589082" cy="250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A642-3A1F-D288-0DA9-81F70467C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4A1493D-34D2-78D7-2A34-6B350504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MPC implementation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03052-5DF3-BA5B-7F15-A1788A68D432}"/>
              </a:ext>
            </a:extLst>
          </p:cNvPr>
          <p:cNvSpPr txBox="1"/>
          <p:nvPr/>
        </p:nvSpPr>
        <p:spPr>
          <a:xfrm>
            <a:off x="762000" y="1676400"/>
            <a:ext cx="3429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second half of the algorithm, the one executing control on the system, had to be done on a running simulation instead of “offline” like with SSI.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AD033A2-2807-739F-BB10-8AE63330F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770" y="1752600"/>
            <a:ext cx="7005230" cy="391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73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EE3FC-9749-3422-6946-63EB535C9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19A4EA5-FC53-2DBA-69F9-463BC3E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Recursive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5528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During simulation, the operation for each timestep starting from k=M+1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efine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 using the past registered M inputs and “registered” outputs;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ompute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next controlled input;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u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se this input to compute the next output and state, using the system’s equations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552849"/>
              </a:xfrm>
              <a:prstGeom prst="rect">
                <a:avLst/>
              </a:prstGeom>
              <a:blipFill>
                <a:blip r:embed="rId2"/>
                <a:stretch>
                  <a:fillRect l="-902" t="-937" r="-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36363AAB-B95B-5658-560B-C0BB7F07C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533" y="3657600"/>
            <a:ext cx="6388677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62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DE78-E3DF-DC7C-2249-65329E3F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F61EB8-1A21-8F5E-AC08-1C89431B5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29A2C5-B1AA-1725-63D1-4B6C67E620B6}"/>
              </a:ext>
            </a:extLst>
          </p:cNvPr>
          <p:cNvSpPr txBox="1"/>
          <p:nvPr/>
        </p:nvSpPr>
        <p:spPr>
          <a:xfrm>
            <a:off x="762000" y="1752600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step reference signal: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3DEEBD34-F20D-8AB0-EFF8-78A715645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933" y="2547196"/>
            <a:ext cx="5471806" cy="2405804"/>
          </a:xfrm>
          <a:prstGeom prst="rect">
            <a:avLst/>
          </a:prstGeom>
        </p:spPr>
      </p:pic>
      <p:pic>
        <p:nvPicPr>
          <p:cNvPr id="8" name="Immagine 7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44354DD-F953-E77D-19D6-8135CE89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261" y="2552558"/>
            <a:ext cx="5234687" cy="232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2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DC1CE-AB02-1785-3132-DFC367BD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F60A5AAE-3A1C-3791-18BF-495AB1F8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3AC2B4C-E108-6A4E-98AC-ECA774B3A84F}"/>
              </a:ext>
            </a:extLst>
          </p:cNvPr>
          <p:cNvSpPr txBox="1"/>
          <p:nvPr/>
        </p:nvSpPr>
        <p:spPr>
          <a:xfrm>
            <a:off x="762000" y="1752600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sine reference signal: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linea, Diagramm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CECA2D05-8EA9-1C84-37E0-A671AC0CA0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1" y="2448339"/>
            <a:ext cx="5334000" cy="2276965"/>
          </a:xfrm>
          <a:prstGeom prst="rect">
            <a:avLst/>
          </a:prstGeom>
        </p:spPr>
      </p:pic>
      <p:pic>
        <p:nvPicPr>
          <p:cNvPr id="7" name="Immagine 6" descr="Immagine che contiene linea, Diagramm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EBADEB84-039C-B405-AE7C-6B98BB0F8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2"/>
          <a:stretch>
            <a:fillRect/>
          </a:stretch>
        </p:blipFill>
        <p:spPr>
          <a:xfrm>
            <a:off x="6248400" y="2418622"/>
            <a:ext cx="5334000" cy="238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744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258D-B0F3-7C5C-C7E8-B789F5442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09A675-D430-454C-FD8B-FD5946162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improvements on the proposed solution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BAB95-29C6-9689-EB54-F490915BB32A}"/>
              </a:ext>
            </a:extLst>
          </p:cNvPr>
          <p:cNvSpPr txBox="1"/>
          <p:nvPr/>
        </p:nvSpPr>
        <p:spPr>
          <a:xfrm>
            <a:off x="762000" y="16764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Appartently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, the SPC algorithm as presented in the paper does not result in a precise tracking of the selected reference signal.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set out to solve this issue and found a more recent paper,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“Offset-Free MPC explained:  </a:t>
            </a:r>
            <a:r>
              <a:rPr lang="en-GB" sz="2400" i="1" dirty="0" err="1">
                <a:latin typeface="Arial" panose="020B0604020202020204" pitchFamily="34" charset="0"/>
                <a:cs typeface="Arial" panose="020B0604020202020204" pitchFamily="34" charset="0"/>
              </a:rPr>
              <a:t>nove</a:t>
            </a:r>
            <a:r>
              <a:rPr lang="it-IT" sz="2400" i="1" dirty="0" err="1">
                <a:latin typeface="Arial" panose="020B0604020202020204" pitchFamily="34" charset="0"/>
                <a:cs typeface="Arial" panose="020B0604020202020204" pitchFamily="34" charset="0"/>
              </a:rPr>
              <a:t>lties,subtleties,and</a:t>
            </a:r>
            <a:r>
              <a:rPr lang="it-IT" sz="2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i="1" dirty="0" err="1"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”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Pannocchia,Gabiccini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and Artoni (2015)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proposes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an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for MPC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removes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offset;</a:t>
            </a: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does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so by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introducing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/>
              <a:t>a feedforward term, allowing exact reference tracking without altering the underlying predictive structure.</a:t>
            </a:r>
          </a:p>
        </p:txBody>
      </p:sp>
    </p:spTree>
    <p:extLst>
      <p:ext uri="{BB962C8B-B14F-4D97-AF65-F5344CB8AC3E}">
        <p14:creationId xmlns:p14="http://schemas.microsoft.com/office/powerpoint/2010/main" val="378766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DEC8A-4E1B-8465-8BE2-A55C0FDD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567439E-11BB-BB6F-FF87-4E3609126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C86FFF-281D-7ADF-5054-D48B4D303F79}"/>
              </a:ext>
            </a:extLst>
          </p:cNvPr>
          <p:cNvSpPr txBox="1"/>
          <p:nvPr/>
        </p:nvSpPr>
        <p:spPr>
          <a:xfrm>
            <a:off x="762000" y="1676400"/>
            <a:ext cx="10134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079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Note: while the paper does not treat the identification of residuals per se, the algorithm can be used to build a controller that somewhat counteracts disturbances or faults on the system, if rt is set to the desired plant output.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1628</Words>
  <Application>Microsoft Office PowerPoint</Application>
  <PresentationFormat>Widescreen</PresentationFormat>
  <Paragraphs>210</Paragraphs>
  <Slides>27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4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 System setting</vt:lpstr>
      <vt:lpstr>Practical implementation –   Hankel Block matrices</vt:lpstr>
      <vt:lpstr>Practical implementation –   SSI step 1</vt:lpstr>
      <vt:lpstr>Practical implementation –   Estimation of system order</vt:lpstr>
      <vt:lpstr>Practical implementation –   Plotting the prediction performance</vt:lpstr>
      <vt:lpstr>Practical implementation –   MPC implementation</vt:lpstr>
      <vt:lpstr>Practical implementation –   Recursive step</vt:lpstr>
      <vt:lpstr>Practical implementation –   basic SPC control results</vt:lpstr>
      <vt:lpstr>Practical implementation –   basic SPC control results</vt:lpstr>
      <vt:lpstr>Practical implementation –   improvements on the proposed solution</vt:lpstr>
      <vt:lpstr>Practical implementation –   improved SPC control 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205</cp:revision>
  <dcterms:created xsi:type="dcterms:W3CDTF">2025-06-12T18:24:46Z</dcterms:created>
  <dcterms:modified xsi:type="dcterms:W3CDTF">2026-01-03T14:31:08Z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